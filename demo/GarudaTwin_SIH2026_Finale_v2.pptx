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/>
              <a:t>Oil pressure (bar): expected vs observed · s from fault onset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(sensor)</c:v>
                </c:pt>
              </c:strCache>
            </c:strRef>
          </c:tx>
          <c:spPr>
            <a:ln w="28575"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Sheet1!$A$2:$A$52</c:f>
              <c:strCache>
                <c:ptCount val="51"/>
                <c:pt idx="0">
                  <c:v>-15</c:v>
                </c:pt>
                <c:pt idx="1">
                  <c:v>-14</c:v>
                </c:pt>
                <c:pt idx="2">
                  <c:v>-13</c:v>
                </c:pt>
                <c:pt idx="3">
                  <c:v>-12</c:v>
                </c:pt>
                <c:pt idx="4">
                  <c:v>-11</c:v>
                </c:pt>
                <c:pt idx="5">
                  <c:v>-10</c:v>
                </c:pt>
                <c:pt idx="6">
                  <c:v>-9</c:v>
                </c:pt>
                <c:pt idx="7">
                  <c:v>-8</c:v>
                </c:pt>
                <c:pt idx="8">
                  <c:v>-7</c:v>
                </c:pt>
                <c:pt idx="9">
                  <c:v>-6</c:v>
                </c:pt>
                <c:pt idx="10">
                  <c:v>-5</c:v>
                </c:pt>
                <c:pt idx="11">
                  <c:v>-4</c:v>
                </c:pt>
                <c:pt idx="12">
                  <c:v>-3</c:v>
                </c:pt>
                <c:pt idx="13">
                  <c:v>-2</c:v>
                </c:pt>
                <c:pt idx="14">
                  <c:v>-1</c:v>
                </c:pt>
                <c:pt idx="15">
                  <c:v>0</c:v>
                </c:pt>
                <c:pt idx="16">
                  <c:v>1</c:v>
                </c:pt>
                <c:pt idx="17">
                  <c:v>2</c:v>
                </c:pt>
                <c:pt idx="18">
                  <c:v>3</c:v>
                </c:pt>
                <c:pt idx="19">
                  <c:v>4</c:v>
                </c:pt>
                <c:pt idx="20">
                  <c:v>5</c:v>
                </c:pt>
                <c:pt idx="21">
                  <c:v>6</c:v>
                </c:pt>
                <c:pt idx="22">
                  <c:v>7</c:v>
                </c:pt>
                <c:pt idx="23">
                  <c:v>8</c:v>
                </c:pt>
                <c:pt idx="24">
                  <c:v>9</c:v>
                </c:pt>
                <c:pt idx="25">
                  <c:v>10</c:v>
                </c:pt>
                <c:pt idx="26">
                  <c:v>11</c:v>
                </c:pt>
                <c:pt idx="27">
                  <c:v>12</c:v>
                </c:pt>
                <c:pt idx="28">
                  <c:v>13</c:v>
                </c:pt>
                <c:pt idx="29">
                  <c:v>14</c:v>
                </c:pt>
                <c:pt idx="30">
                  <c:v>15</c:v>
                </c:pt>
                <c:pt idx="31">
                  <c:v>16</c:v>
                </c:pt>
                <c:pt idx="32">
                  <c:v>17</c:v>
                </c:pt>
                <c:pt idx="33">
                  <c:v>18</c:v>
                </c:pt>
                <c:pt idx="34">
                  <c:v>19</c:v>
                </c:pt>
                <c:pt idx="35">
                  <c:v>20</c:v>
                </c:pt>
                <c:pt idx="36">
                  <c:v>21</c:v>
                </c:pt>
                <c:pt idx="37">
                  <c:v>22</c:v>
                </c:pt>
                <c:pt idx="38">
                  <c:v>23</c:v>
                </c:pt>
                <c:pt idx="39">
                  <c:v>24</c:v>
                </c:pt>
                <c:pt idx="40">
                  <c:v>25</c:v>
                </c:pt>
                <c:pt idx="41">
                  <c:v>26</c:v>
                </c:pt>
                <c:pt idx="42">
                  <c:v>27</c:v>
                </c:pt>
                <c:pt idx="43">
                  <c:v>28</c:v>
                </c:pt>
                <c:pt idx="44">
                  <c:v>29</c:v>
                </c:pt>
                <c:pt idx="45">
                  <c:v>30</c:v>
                </c:pt>
                <c:pt idx="46">
                  <c:v>31</c:v>
                </c:pt>
                <c:pt idx="47">
                  <c:v>32</c:v>
                </c:pt>
                <c:pt idx="48">
                  <c:v>33</c:v>
                </c:pt>
                <c:pt idx="49">
                  <c:v>34</c:v>
                </c:pt>
                <c:pt idx="50">
                  <c:v>35</c:v>
                </c:pt>
              </c:strCache>
            </c: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3.855</c:v>
                </c:pt>
                <c:pt idx="1">
                  <c:v>3.848</c:v>
                </c:pt>
                <c:pt idx="2">
                  <c:v>3.86</c:v>
                </c:pt>
                <c:pt idx="3">
                  <c:v>3.857</c:v>
                </c:pt>
                <c:pt idx="4">
                  <c:v>3.847</c:v>
                </c:pt>
                <c:pt idx="5">
                  <c:v>3.853</c:v>
                </c:pt>
                <c:pt idx="6">
                  <c:v>3.845</c:v>
                </c:pt>
                <c:pt idx="7">
                  <c:v>3.862</c:v>
                </c:pt>
                <c:pt idx="8">
                  <c:v>3.858</c:v>
                </c:pt>
                <c:pt idx="9">
                  <c:v>3.86</c:v>
                </c:pt>
                <c:pt idx="10">
                  <c:v>3.851</c:v>
                </c:pt>
                <c:pt idx="11">
                  <c:v>3.844</c:v>
                </c:pt>
                <c:pt idx="12">
                  <c:v>3.849</c:v>
                </c:pt>
                <c:pt idx="13">
                  <c:v>3.859</c:v>
                </c:pt>
                <c:pt idx="14">
                  <c:v>3.853</c:v>
                </c:pt>
                <c:pt idx="15">
                  <c:v>1.671</c:v>
                </c:pt>
                <c:pt idx="16">
                  <c:v>1.626</c:v>
                </c:pt>
                <c:pt idx="17">
                  <c:v>1.792</c:v>
                </c:pt>
                <c:pt idx="18">
                  <c:v>1.54</c:v>
                </c:pt>
                <c:pt idx="19">
                  <c:v>1.79</c:v>
                </c:pt>
                <c:pt idx="20">
                  <c:v>1.601</c:v>
                </c:pt>
                <c:pt idx="21">
                  <c:v>1.671</c:v>
                </c:pt>
                <c:pt idx="22">
                  <c:v>1.69</c:v>
                </c:pt>
                <c:pt idx="23">
                  <c:v>1.635</c:v>
                </c:pt>
                <c:pt idx="24">
                  <c:v>1.686</c:v>
                </c:pt>
                <c:pt idx="25">
                  <c:v>1.705</c:v>
                </c:pt>
                <c:pt idx="26">
                  <c:v>1.605</c:v>
                </c:pt>
                <c:pt idx="27">
                  <c:v>1.745</c:v>
                </c:pt>
                <c:pt idx="28">
                  <c:v>1.637</c:v>
                </c:pt>
                <c:pt idx="29">
                  <c:v>1.645</c:v>
                </c:pt>
                <c:pt idx="30">
                  <c:v>1.755</c:v>
                </c:pt>
                <c:pt idx="31">
                  <c:v>1.518</c:v>
                </c:pt>
                <c:pt idx="32">
                  <c:v>1.751</c:v>
                </c:pt>
                <c:pt idx="33">
                  <c:v>1.702</c:v>
                </c:pt>
                <c:pt idx="34">
                  <c:v>1.569</c:v>
                </c:pt>
                <c:pt idx="35">
                  <c:v>1.787</c:v>
                </c:pt>
                <c:pt idx="36">
                  <c:v>1.571</c:v>
                </c:pt>
                <c:pt idx="37">
                  <c:v>1.691</c:v>
                </c:pt>
                <c:pt idx="38">
                  <c:v>1.739</c:v>
                </c:pt>
                <c:pt idx="39">
                  <c:v>1.537</c:v>
                </c:pt>
                <c:pt idx="40">
                  <c:v>1.824</c:v>
                </c:pt>
                <c:pt idx="41">
                  <c:v>1.527</c:v>
                </c:pt>
                <c:pt idx="42">
                  <c:v>1.755</c:v>
                </c:pt>
                <c:pt idx="43">
                  <c:v>1.657</c:v>
                </c:pt>
                <c:pt idx="44">
                  <c:v>1.611</c:v>
                </c:pt>
                <c:pt idx="45">
                  <c:v>1.732</c:v>
                </c:pt>
                <c:pt idx="46">
                  <c:v>1.612</c:v>
                </c:pt>
                <c:pt idx="47">
                  <c:v>1.672</c:v>
                </c:pt>
                <c:pt idx="48">
                  <c:v>1.678</c:v>
                </c:pt>
                <c:pt idx="49">
                  <c:v>1.627</c:v>
                </c:pt>
                <c:pt idx="50">
                  <c:v>1.675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(physics twin)</c:v>
                </c:pt>
              </c:strCache>
            </c:strRef>
          </c:tx>
          <c:spPr>
            <a:ln w="28575">
              <a:solidFill>
                <a:srgbClr val="1F6FB2"/>
              </a:solidFill>
              <a:prstDash val="dash"/>
            </a:ln>
          </c:spPr>
          <c:marker>
            <c:symbol val="none"/>
          </c:marker>
          <c:cat>
            <c:strRef>
              <c:f>Sheet1!$A$2:$A$52</c:f>
              <c:strCache>
                <c:ptCount val="51"/>
                <c:pt idx="0">
                  <c:v>-15</c:v>
                </c:pt>
                <c:pt idx="1">
                  <c:v>-14</c:v>
                </c:pt>
                <c:pt idx="2">
                  <c:v>-13</c:v>
                </c:pt>
                <c:pt idx="3">
                  <c:v>-12</c:v>
                </c:pt>
                <c:pt idx="4">
                  <c:v>-11</c:v>
                </c:pt>
                <c:pt idx="5">
                  <c:v>-10</c:v>
                </c:pt>
                <c:pt idx="6">
                  <c:v>-9</c:v>
                </c:pt>
                <c:pt idx="7">
                  <c:v>-8</c:v>
                </c:pt>
                <c:pt idx="8">
                  <c:v>-7</c:v>
                </c:pt>
                <c:pt idx="9">
                  <c:v>-6</c:v>
                </c:pt>
                <c:pt idx="10">
                  <c:v>-5</c:v>
                </c:pt>
                <c:pt idx="11">
                  <c:v>-4</c:v>
                </c:pt>
                <c:pt idx="12">
                  <c:v>-3</c:v>
                </c:pt>
                <c:pt idx="13">
                  <c:v>-2</c:v>
                </c:pt>
                <c:pt idx="14">
                  <c:v>-1</c:v>
                </c:pt>
                <c:pt idx="15">
                  <c:v>0</c:v>
                </c:pt>
                <c:pt idx="16">
                  <c:v>1</c:v>
                </c:pt>
                <c:pt idx="17">
                  <c:v>2</c:v>
                </c:pt>
                <c:pt idx="18">
                  <c:v>3</c:v>
                </c:pt>
                <c:pt idx="19">
                  <c:v>4</c:v>
                </c:pt>
                <c:pt idx="20">
                  <c:v>5</c:v>
                </c:pt>
                <c:pt idx="21">
                  <c:v>6</c:v>
                </c:pt>
                <c:pt idx="22">
                  <c:v>7</c:v>
                </c:pt>
                <c:pt idx="23">
                  <c:v>8</c:v>
                </c:pt>
                <c:pt idx="24">
                  <c:v>9</c:v>
                </c:pt>
                <c:pt idx="25">
                  <c:v>10</c:v>
                </c:pt>
                <c:pt idx="26">
                  <c:v>11</c:v>
                </c:pt>
                <c:pt idx="27">
                  <c:v>12</c:v>
                </c:pt>
                <c:pt idx="28">
                  <c:v>13</c:v>
                </c:pt>
                <c:pt idx="29">
                  <c:v>14</c:v>
                </c:pt>
                <c:pt idx="30">
                  <c:v>15</c:v>
                </c:pt>
                <c:pt idx="31">
                  <c:v>16</c:v>
                </c:pt>
                <c:pt idx="32">
                  <c:v>17</c:v>
                </c:pt>
                <c:pt idx="33">
                  <c:v>18</c:v>
                </c:pt>
                <c:pt idx="34">
                  <c:v>19</c:v>
                </c:pt>
                <c:pt idx="35">
                  <c:v>20</c:v>
                </c:pt>
                <c:pt idx="36">
                  <c:v>21</c:v>
                </c:pt>
                <c:pt idx="37">
                  <c:v>22</c:v>
                </c:pt>
                <c:pt idx="38">
                  <c:v>23</c:v>
                </c:pt>
                <c:pt idx="39">
                  <c:v>24</c:v>
                </c:pt>
                <c:pt idx="40">
                  <c:v>25</c:v>
                </c:pt>
                <c:pt idx="41">
                  <c:v>26</c:v>
                </c:pt>
                <c:pt idx="42">
                  <c:v>27</c:v>
                </c:pt>
                <c:pt idx="43">
                  <c:v>28</c:v>
                </c:pt>
                <c:pt idx="44">
                  <c:v>29</c:v>
                </c:pt>
                <c:pt idx="45">
                  <c:v>30</c:v>
                </c:pt>
                <c:pt idx="46">
                  <c:v>31</c:v>
                </c:pt>
                <c:pt idx="47">
                  <c:v>32</c:v>
                </c:pt>
                <c:pt idx="48">
                  <c:v>33</c:v>
                </c:pt>
                <c:pt idx="49">
                  <c:v>34</c:v>
                </c:pt>
                <c:pt idx="50">
                  <c:v>35</c:v>
                </c:pt>
              </c:strCache>
            </c: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3.849</c:v>
                </c:pt>
                <c:pt idx="1">
                  <c:v>3.849</c:v>
                </c:pt>
                <c:pt idx="2">
                  <c:v>3.849</c:v>
                </c:pt>
                <c:pt idx="3">
                  <c:v>3.849</c:v>
                </c:pt>
                <c:pt idx="4">
                  <c:v>3.849</c:v>
                </c:pt>
                <c:pt idx="5">
                  <c:v>3.849</c:v>
                </c:pt>
                <c:pt idx="6">
                  <c:v>3.849</c:v>
                </c:pt>
                <c:pt idx="7">
                  <c:v>3.849</c:v>
                </c:pt>
                <c:pt idx="8">
                  <c:v>3.849</c:v>
                </c:pt>
                <c:pt idx="9">
                  <c:v>3.849</c:v>
                </c:pt>
                <c:pt idx="10">
                  <c:v>3.849</c:v>
                </c:pt>
                <c:pt idx="11">
                  <c:v>3.849</c:v>
                </c:pt>
                <c:pt idx="12">
                  <c:v>3.849</c:v>
                </c:pt>
                <c:pt idx="13">
                  <c:v>3.849</c:v>
                </c:pt>
                <c:pt idx="14">
                  <c:v>3.849</c:v>
                </c:pt>
                <c:pt idx="15">
                  <c:v>3.849</c:v>
                </c:pt>
                <c:pt idx="16">
                  <c:v>3.849</c:v>
                </c:pt>
                <c:pt idx="17">
                  <c:v>3.849</c:v>
                </c:pt>
                <c:pt idx="18">
                  <c:v>3.849</c:v>
                </c:pt>
                <c:pt idx="19">
                  <c:v>3.85</c:v>
                </c:pt>
                <c:pt idx="20">
                  <c:v>3.85</c:v>
                </c:pt>
                <c:pt idx="21">
                  <c:v>3.85</c:v>
                </c:pt>
                <c:pt idx="22">
                  <c:v>3.85</c:v>
                </c:pt>
                <c:pt idx="23">
                  <c:v>3.85</c:v>
                </c:pt>
                <c:pt idx="24">
                  <c:v>3.85</c:v>
                </c:pt>
                <c:pt idx="25">
                  <c:v>3.85</c:v>
                </c:pt>
                <c:pt idx="26">
                  <c:v>3.85</c:v>
                </c:pt>
                <c:pt idx="27">
                  <c:v>3.85</c:v>
                </c:pt>
                <c:pt idx="28">
                  <c:v>3.85</c:v>
                </c:pt>
                <c:pt idx="29">
                  <c:v>3.851</c:v>
                </c:pt>
                <c:pt idx="30">
                  <c:v>3.851</c:v>
                </c:pt>
                <c:pt idx="31">
                  <c:v>3.851</c:v>
                </c:pt>
                <c:pt idx="32">
                  <c:v>3.851</c:v>
                </c:pt>
                <c:pt idx="33">
                  <c:v>3.851</c:v>
                </c:pt>
                <c:pt idx="34">
                  <c:v>3.851</c:v>
                </c:pt>
                <c:pt idx="35">
                  <c:v>3.851</c:v>
                </c:pt>
                <c:pt idx="36">
                  <c:v>3.851</c:v>
                </c:pt>
                <c:pt idx="37">
                  <c:v>3.851</c:v>
                </c:pt>
                <c:pt idx="38">
                  <c:v>3.851</c:v>
                </c:pt>
                <c:pt idx="39">
                  <c:v>3.851</c:v>
                </c:pt>
                <c:pt idx="40">
                  <c:v>3.851</c:v>
                </c:pt>
                <c:pt idx="41">
                  <c:v>3.851</c:v>
                </c:pt>
                <c:pt idx="42">
                  <c:v>3.851</c:v>
                </c:pt>
                <c:pt idx="43">
                  <c:v>3.851</c:v>
                </c:pt>
                <c:pt idx="44">
                  <c:v>3.851</c:v>
                </c:pt>
                <c:pt idx="45">
                  <c:v>3.851</c:v>
                </c:pt>
                <c:pt idx="46">
                  <c:v>3.851</c:v>
                </c:pt>
                <c:pt idx="47">
                  <c:v>3.851</c:v>
                </c:pt>
                <c:pt idx="48">
                  <c:v>3.851</c:v>
                </c:pt>
                <c:pt idx="49">
                  <c:v>3.851</c:v>
                </c:pt>
                <c:pt idx="50">
                  <c:v>3.851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0.0"/>
        </c:scaling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Chart: recorded simulated run (demo/backup_sortie.csv), seconds from fault onset; observed mean 1.67 bar vs expected 3.85 bar (10-35 s). Small-fault recall: baseline_comparison.json recall_by_severity 0.05-0.15 (A2 tuned limits 37.1 %, C twin+AI 96.0 %). 11 fault classes + healthy: model_card.json. Sensor drift values: recorded demo frames (CHT-2 +23.3 to +24.6 C, EGT-2 within 1 C, AI health 99/100).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Technologies from package.json and requirements.txt (PyTorch only powers a legacy endpoint not used by the GCS, so it is not listed). Anomaly detector: Mahalanobis distance with Ledoit-Wolf covariance, 2-sample persistence (model_card.json). Not in the demo: automatic return-to-base or flight control. In progress: remaining-life estimate (research).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7 test suites: test_data_source, test_fleet, test_gateway_security, test_geofence (Node) and test_ai, test_api, test_complete_ai_physics (Python), passed on the fresh-install test. Stress test: model_card.json stress_test_nuisance_offsets (fault_classifier macro F1 0.5036). 67/67 frames: CAN bridge log from the demo recording.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All figures from ai_health_rul/models/baseline_comparison.json (training/baseline_comparison.mjs). Small faults = severity 0.05-0.15 recall. Tuned limits: each reading limited at its highest value on healthy validation samples.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13 sources: 10 peer-reviewed works (DOIs verified on Crossref), ISO 11898-1:2024 and ISO 13374-1:2003 (iso.org), and the BRP-Rotax 915 iS official data page. ISO 13374 defines six processing blocks: data acquisition, data manipulation, state detection, health assessment, prognostic assessment, advisory generation; GarudaTwin's stages map onto them. P. C. Mahalanobis founded the Indian Statistical Institute. Remaining-life (PA) is research in progress and not claimed.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page per the SIH 2026 template. The three numbers are measured: AI naming time from the recorded demo run, false alarms from ai_health_rul/models/baseline_comparison.json, replay reproducibility from the recorded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i.org/10.1063/5.0184501" TargetMode="External"/><Relationship Id="rId5" Type="http://schemas.openxmlformats.org/officeDocument/2006/relationships/hyperlink" Target="https://www.iso.org/standard/86384.html" TargetMode="External"/><Relationship Id="rId6" Type="http://schemas.openxmlformats.org/officeDocument/2006/relationships/hyperlink" Target="https://doi.org/10.2514/6.2012-1818" TargetMode="External"/><Relationship Id="rId7" Type="http://schemas.openxmlformats.org/officeDocument/2006/relationships/hyperlink" Target="https://doi.org/10.1109/TAES.2023.3329797" TargetMode="External"/><Relationship Id="rId8" Type="http://schemas.openxmlformats.org/officeDocument/2006/relationships/hyperlink" Target="https://doi.org/10.1016/j.arcontrol.2004.12.002" TargetMode="External"/><Relationship Id="rId9" Type="http://schemas.openxmlformats.org/officeDocument/2006/relationships/hyperlink" Target="https://doi.org/10.1007/s13171-019-00164-5" TargetMode="External"/><Relationship Id="rId10" Type="http://schemas.openxmlformats.org/officeDocument/2006/relationships/hyperlink" Target="https://doi.org/10.1016/S0047-259X(03)00096-4" TargetMode="External"/><Relationship Id="rId11" Type="http://schemas.openxmlformats.org/officeDocument/2006/relationships/hyperlink" Target="https://doi.org/10.1145/2939672.2939785" TargetMode="External"/><Relationship Id="rId12" Type="http://schemas.openxmlformats.org/officeDocument/2006/relationships/hyperlink" Target="https://doi.org/10.23919/MIPRO.2019.8757079" TargetMode="External"/><Relationship Id="rId13" Type="http://schemas.openxmlformats.org/officeDocument/2006/relationships/hyperlink" Target="https://doi.org/10.1109/PHM.2008.4711414" TargetMode="External"/><Relationship Id="rId14" Type="http://schemas.openxmlformats.org/officeDocument/2006/relationships/hyperlink" Target="https://doi.org/10.1038/s42256-019-0138-9" TargetMode="External"/><Relationship Id="rId15" Type="http://schemas.openxmlformats.org/officeDocument/2006/relationships/hyperlink" Target="https://www.iso.org/standard/21832.html" TargetMode="External"/><Relationship Id="rId16" Type="http://schemas.openxmlformats.org/officeDocument/2006/relationships/hyperlink" Target="https://www.flyrotax.com/products/915-is-a-isc-a" TargetMode="External"/><Relationship Id="rId17" Type="http://schemas.openxmlformats.org/officeDocument/2006/relationships/hyperlink" Target="https://github.com/suhruthsai/GarudaTwin-Propulsion-Intelligence" TargetMode="External"/><Relationship Id="rId18" Type="http://schemas.openxmlformats.org/officeDocument/2006/relationships/image" Target="../media/image5.png"/><Relationship Id="rId19" Type="http://schemas.openxmlformats.org/officeDocument/2006/relationships/hyperlink" Target="https://drive.google.com/drive/folders/1NzgCeVztNYcLeIkrnXkrBK1E8dtIl7Up" TargetMode="External"/><Relationship Id="rId20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GarudaTwin: Propulsion Intelligence for MALE UAV Engines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2011680"/>
            <a:ext cx="57607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28600" indent="-228600">
              <a:spcAft>
                <a:spcPts val="600"/>
              </a:spcAft>
            </a:pPr>
            <a:r>
              <a:rPr sz="170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• </a:t>
            </a:r>
            <a:r>
              <a:rPr sz="170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Problem Statement ID – </a:t>
            </a:r>
            <a:r>
              <a:rPr sz="17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SIH26054</a:t>
            </a:r>
          </a:p>
          <a:p>
            <a:pPr algn="l" marL="228600" indent="-228600">
              <a:spcAft>
                <a:spcPts val="600"/>
              </a:spcAft>
            </a:pPr>
            <a:r>
              <a:rPr sz="170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• </a:t>
            </a:r>
            <a:r>
              <a:rPr sz="170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Problem Statement Title – </a:t>
            </a:r>
            <a:r>
              <a:rPr sz="15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AI-Enabled Real-Time Digital Twin System for Health Monitoring, Fault Prediction and Mission Reliability Enhancement of Aero Piston Engines used in MALE UAVs</a:t>
            </a:r>
          </a:p>
          <a:p>
            <a:pPr algn="l" marL="228600" indent="-228600">
              <a:spcAft>
                <a:spcPts val="600"/>
              </a:spcAft>
            </a:pPr>
            <a:r>
              <a:rPr sz="170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• </a:t>
            </a:r>
            <a:r>
              <a:rPr sz="170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Theme – </a:t>
            </a:r>
            <a:r>
              <a:rPr sz="17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Robotics and Drones</a:t>
            </a:r>
          </a:p>
          <a:p>
            <a:pPr algn="l" marL="228600" indent="-228600">
              <a:spcAft>
                <a:spcPts val="600"/>
              </a:spcAft>
            </a:pPr>
            <a:r>
              <a:rPr sz="170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• </a:t>
            </a:r>
            <a:r>
              <a:rPr sz="170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PS Category – </a:t>
            </a:r>
            <a:r>
              <a:rPr sz="17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Software</a:t>
            </a:r>
          </a:p>
          <a:p>
            <a:pPr algn="l" marL="228600" indent="-228600">
              <a:spcAft>
                <a:spcPts val="600"/>
              </a:spcAft>
            </a:pPr>
            <a:r>
              <a:rPr sz="170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• </a:t>
            </a:r>
            <a:r>
              <a:rPr sz="170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Team ID – </a:t>
            </a:r>
            <a:r>
              <a:rPr sz="17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155188</a:t>
            </a:r>
          </a:p>
          <a:p>
            <a:pPr algn="l" marL="228600" indent="-228600">
              <a:spcAft>
                <a:spcPts val="600"/>
              </a:spcAft>
            </a:pPr>
            <a:r>
              <a:rPr sz="170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• </a:t>
            </a:r>
            <a:r>
              <a:rPr sz="170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Team Name (Registered on portal) – </a:t>
            </a:r>
            <a:r>
              <a:rPr sz="17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GarudaAstra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" y="5212080"/>
            <a:ext cx="1856231" cy="93268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5875">
            <a:solidFill>
              <a:srgbClr val="C6282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02336" y="5248656"/>
            <a:ext cx="17373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⏱️ </a:t>
            </a:r>
            <a:r>
              <a:rPr sz="20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1.5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5641848"/>
            <a:ext cx="175564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AI names an injected
engine fault (demo run)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76856" y="5212080"/>
            <a:ext cx="1856231" cy="93268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5875">
            <a:solidFill>
              <a:srgbClr val="1E8E4E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50008" y="5248656"/>
            <a:ext cx="17373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🛡️ </a:t>
            </a:r>
            <a:r>
              <a:rPr sz="20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641848"/>
            <a:ext cx="175564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false alarms on 15,225
healthy test samples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24528" y="5212080"/>
            <a:ext cx="1856231" cy="932688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1F6FB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297680" y="5248656"/>
            <a:ext cx="17373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🔁 </a:t>
            </a:r>
            <a:r>
              <a:rPr sz="2000" b="1" i="0" u="none">
                <a:solidFill>
                  <a:srgbClr val="1F6FB2"/>
                </a:solidFill>
                <a:latin typeface="Segoe UI Semibold"/>
                <a:ea typeface="Segoe UI Semibold"/>
                <a:cs typeface="Segoe UI Semibold"/>
              </a:rPr>
              <a:t>947 / 947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9392" y="5641848"/>
            <a:ext cx="175564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AI decisions identical
on replay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6236208"/>
            <a:ext cx="5852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Working prototype · every engine reading shown is simulated · measured on held-out simulated test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8046720" cy="1143000"/>
          </a:xfrm>
        </p:spPr>
        <p:txBody>
          <a:bodyPr/>
          <a:lstStyle/>
          <a:p>
            <a:pPr eaLnBrk="1" hangingPunct="1"/>
            <a:r>
              <a:rPr lang="en-US" sz="2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GarudaTwin: Propulsion Intelligence for UAV Engines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500"/>
              <a:t>GarudaAstra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74320" y="6400800"/>
            <a:ext cx="4206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●  WORKING PROTOTYPE · ALL ENGINE DATA SHOWN IS SIMULATED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274320" y="1078992"/>
            <a:ext cx="694944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❖ </a:t>
            </a:r>
            <a:r>
              <a:rPr sz="1700" b="1" i="0" u="sng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Proposed Solution (Describe your Idea/Solution/Prototype)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74320" y="1417320"/>
            <a:ext cx="68122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One idea: </a:t>
            </a:r>
            <a:r>
              <a:rPr sz="1250" b="0" i="0" u="none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a physics </a:t>
            </a:r>
            <a:r>
              <a:rPr sz="12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digital twin</a:t>
            </a:r>
            <a:r>
              <a:rPr sz="1250" b="0" i="0" u="none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 tells the AI what every engine reading </a:t>
            </a:r>
            <a:r>
              <a:rPr sz="1250" b="1" i="1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should</a:t>
            </a:r>
            <a:r>
              <a:rPr sz="1250" b="0" i="0" u="none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 be.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274320" y="1801368"/>
            <a:ext cx="64008" cy="237744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393192" y="1764792"/>
            <a:ext cx="66934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Detailed explanation of the proposed solution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274320" y="2112264"/>
            <a:ext cx="1216152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6FB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Rounded Rectangle 15367"/>
          <p:cNvSpPr/>
          <p:nvPr/>
        </p:nvSpPr>
        <p:spPr>
          <a:xfrm>
            <a:off x="274320" y="2112264"/>
            <a:ext cx="1216152" cy="292608"/>
          </a:xfrm>
          <a:prstGeom prst="roundRect">
            <a:avLst>
              <a:gd name="adj" fmla="val 3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TextBox 15368"/>
          <p:cNvSpPr txBox="1"/>
          <p:nvPr/>
        </p:nvSpPr>
        <p:spPr>
          <a:xfrm>
            <a:off x="301751" y="2121408"/>
            <a:ext cx="116128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📡 </a:t>
            </a:r>
            <a:r>
              <a:rPr sz="10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25 readings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329184" y="2441448"/>
            <a:ext cx="1106424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every second: temperatures, oil, fuel, vibration, electrical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1517904" y="2487168"/>
            <a:ext cx="128016" cy="182880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1673352" y="2112264"/>
            <a:ext cx="1216152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Rounded Rectangle 15372"/>
          <p:cNvSpPr/>
          <p:nvPr/>
        </p:nvSpPr>
        <p:spPr>
          <a:xfrm>
            <a:off x="1673352" y="2112264"/>
            <a:ext cx="1216152" cy="292608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TextBox 15373"/>
          <p:cNvSpPr txBox="1"/>
          <p:nvPr/>
        </p:nvSpPr>
        <p:spPr>
          <a:xfrm>
            <a:off x="1700784" y="2121408"/>
            <a:ext cx="116128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⚙️ </a:t>
            </a:r>
            <a:r>
              <a:rPr sz="10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Digital twin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1728216" y="2441448"/>
            <a:ext cx="1106424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physics gives the expected value of each reading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2916936" y="2487168"/>
            <a:ext cx="128016" cy="182880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3072384" y="2112264"/>
            <a:ext cx="1216152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A4C93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8" name="Rounded Rectangle 15377"/>
          <p:cNvSpPr/>
          <p:nvPr/>
        </p:nvSpPr>
        <p:spPr>
          <a:xfrm>
            <a:off x="3072384" y="2112264"/>
            <a:ext cx="1216152" cy="292608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3099815" y="2121408"/>
            <a:ext cx="116128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📐 </a:t>
            </a:r>
            <a:r>
              <a:rPr sz="10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Residual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3127248" y="2441448"/>
            <a:ext cx="1106424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observed − expected = the deviation</a:t>
            </a:r>
          </a:p>
        </p:txBody>
      </p:sp>
      <p:sp>
        <p:nvSpPr>
          <p:cNvPr id="15381" name="Right Arrow 15380"/>
          <p:cNvSpPr/>
          <p:nvPr/>
        </p:nvSpPr>
        <p:spPr>
          <a:xfrm>
            <a:off x="4315968" y="2487168"/>
            <a:ext cx="128016" cy="182880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4471416" y="2112264"/>
            <a:ext cx="1216152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Rounded Rectangle 15382"/>
          <p:cNvSpPr/>
          <p:nvPr/>
        </p:nvSpPr>
        <p:spPr>
          <a:xfrm>
            <a:off x="4471416" y="2112264"/>
            <a:ext cx="1216152" cy="292608"/>
          </a:xfrm>
          <a:prstGeom prst="roundRect">
            <a:avLst>
              <a:gd name="adj" fmla="val 3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4" name="TextBox 15383"/>
          <p:cNvSpPr txBox="1"/>
          <p:nvPr/>
        </p:nvSpPr>
        <p:spPr>
          <a:xfrm>
            <a:off x="4498848" y="2121408"/>
            <a:ext cx="116128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🧠 </a:t>
            </a:r>
            <a:r>
              <a:rPr sz="10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AI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526279" y="2441448"/>
            <a:ext cx="1106424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detects it, names 1 of 11 faults, TreeSHAP shows why</a:t>
            </a:r>
          </a:p>
        </p:txBody>
      </p:sp>
      <p:sp>
        <p:nvSpPr>
          <p:cNvPr id="15386" name="Right Arrow 15385"/>
          <p:cNvSpPr/>
          <p:nvPr/>
        </p:nvSpPr>
        <p:spPr>
          <a:xfrm>
            <a:off x="5715000" y="2487168"/>
            <a:ext cx="128016" cy="182880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5870448" y="2112264"/>
            <a:ext cx="1216152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2545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Rounded Rectangle 15387"/>
          <p:cNvSpPr/>
          <p:nvPr/>
        </p:nvSpPr>
        <p:spPr>
          <a:xfrm>
            <a:off x="5870448" y="2112264"/>
            <a:ext cx="1216152" cy="292608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TextBox 15388"/>
          <p:cNvSpPr txBox="1"/>
          <p:nvPr/>
        </p:nvSpPr>
        <p:spPr>
          <a:xfrm>
            <a:off x="5897880" y="2121408"/>
            <a:ext cx="116128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🖥️ </a:t>
            </a:r>
            <a:r>
              <a:rPr sz="10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Operator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5925312" y="2441448"/>
            <a:ext cx="1106424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sees the fault and its evidence; the operator decides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274320" y="3191256"/>
            <a:ext cx="64008" cy="237744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2" name="TextBox 15391"/>
          <p:cNvSpPr txBox="1"/>
          <p:nvPr/>
        </p:nvSpPr>
        <p:spPr>
          <a:xfrm>
            <a:off x="393192" y="3154680"/>
            <a:ext cx="66934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How it addresses the problem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274320" y="3493008"/>
            <a:ext cx="1572768" cy="246888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4" name="TextBox 15393"/>
          <p:cNvSpPr txBox="1"/>
          <p:nvPr/>
        </p:nvSpPr>
        <p:spPr>
          <a:xfrm>
            <a:off x="329184" y="3493008"/>
            <a:ext cx="1481328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The problem asks for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1883664" y="3493008"/>
            <a:ext cx="2761488" cy="246888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6" name="TextBox 15395"/>
          <p:cNvSpPr txBox="1"/>
          <p:nvPr/>
        </p:nvSpPr>
        <p:spPr>
          <a:xfrm>
            <a:off x="1938528" y="3493008"/>
            <a:ext cx="2670048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GarudaTwin's answer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4681728" y="3493008"/>
            <a:ext cx="2404872" cy="246888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8" name="TextBox 15397"/>
          <p:cNvSpPr txBox="1"/>
          <p:nvPr/>
        </p:nvSpPr>
        <p:spPr>
          <a:xfrm>
            <a:off x="4736592" y="3493008"/>
            <a:ext cx="2313432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Measured proof (simulated test data)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274320" y="3776472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0" name="TextBox 15399"/>
          <p:cNvSpPr txBox="1"/>
          <p:nvPr/>
        </p:nvSpPr>
        <p:spPr>
          <a:xfrm>
            <a:off x="310896" y="3776472"/>
            <a:ext cx="151790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🩺 </a:t>
            </a:r>
            <a:r>
              <a:rPr sz="10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Health monitoring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1883664" y="3776472"/>
            <a:ext cx="27614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2" name="TextBox 15401"/>
          <p:cNvSpPr txBox="1"/>
          <p:nvPr/>
        </p:nvSpPr>
        <p:spPr>
          <a:xfrm>
            <a:off x="1938528" y="3776472"/>
            <a:ext cx="2670048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Every reading checked against its expected value, every second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4681728" y="3776472"/>
            <a:ext cx="2404872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BF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4" name="TextBox 15403"/>
          <p:cNvSpPr txBox="1"/>
          <p:nvPr/>
        </p:nvSpPr>
        <p:spPr>
          <a:xfrm>
            <a:off x="4736592" y="3776472"/>
            <a:ext cx="23134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25</a:t>
            </a:r>
            <a:r>
              <a:rPr sz="8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readings · lost data → </a:t>
            </a: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NO DATA in 2 s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274320" y="4279392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6" name="TextBox 15405"/>
          <p:cNvSpPr txBox="1"/>
          <p:nvPr/>
        </p:nvSpPr>
        <p:spPr>
          <a:xfrm>
            <a:off x="310896" y="4279392"/>
            <a:ext cx="151790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🔍 </a:t>
            </a:r>
            <a:r>
              <a:rPr sz="10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Fault prediction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1883664" y="4279392"/>
            <a:ext cx="27614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8" name="TextBox 15407"/>
          <p:cNvSpPr txBox="1"/>
          <p:nvPr/>
        </p:nvSpPr>
        <p:spPr>
          <a:xfrm>
            <a:off x="1938528" y="4279392"/>
            <a:ext cx="2670048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Catches faults while still small, and names them</a:t>
            </a:r>
          </a:p>
        </p:txBody>
      </p:sp>
      <p:sp>
        <p:nvSpPr>
          <p:cNvPr id="15409" name="Rounded Rectangle 15408"/>
          <p:cNvSpPr/>
          <p:nvPr/>
        </p:nvSpPr>
        <p:spPr>
          <a:xfrm>
            <a:off x="4681728" y="4279392"/>
            <a:ext cx="2404872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BF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0" name="TextBox 15409"/>
          <p:cNvSpPr txBox="1"/>
          <p:nvPr/>
        </p:nvSpPr>
        <p:spPr>
          <a:xfrm>
            <a:off x="4736592" y="4279392"/>
            <a:ext cx="23134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96 %</a:t>
            </a:r>
            <a:r>
              <a:rPr sz="8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of small faults (tuned limits: 37 %) · </a:t>
            </a: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11</a:t>
            </a:r>
            <a:r>
              <a:rPr sz="8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 faults, F1 </a:t>
            </a: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0.98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274320" y="4782312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2" name="TextBox 15411"/>
          <p:cNvSpPr txBox="1"/>
          <p:nvPr/>
        </p:nvSpPr>
        <p:spPr>
          <a:xfrm>
            <a:off x="310896" y="4782312"/>
            <a:ext cx="151790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🎯 </a:t>
            </a:r>
            <a:r>
              <a:rPr sz="10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Mission reliability</a:t>
            </a:r>
          </a:p>
        </p:txBody>
      </p:sp>
      <p:sp>
        <p:nvSpPr>
          <p:cNvPr id="15413" name="Rounded Rectangle 15412"/>
          <p:cNvSpPr/>
          <p:nvPr/>
        </p:nvSpPr>
        <p:spPr>
          <a:xfrm>
            <a:off x="1883664" y="4782312"/>
            <a:ext cx="27614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4" name="TextBox 15413"/>
          <p:cNvSpPr txBox="1"/>
          <p:nvPr/>
        </p:nvSpPr>
        <p:spPr>
          <a:xfrm>
            <a:off x="1938528" y="4782312"/>
            <a:ext cx="2670048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No false alarms; a lying sensor is not an engine alarm</a:t>
            </a:r>
          </a:p>
        </p:txBody>
      </p:sp>
      <p:sp>
        <p:nvSpPr>
          <p:cNvPr id="15415" name="Rounded Rectangle 15414"/>
          <p:cNvSpPr/>
          <p:nvPr/>
        </p:nvSpPr>
        <p:spPr>
          <a:xfrm>
            <a:off x="4681728" y="4782312"/>
            <a:ext cx="2404872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BF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6" name="TextBox 15415"/>
          <p:cNvSpPr txBox="1"/>
          <p:nvPr/>
        </p:nvSpPr>
        <p:spPr>
          <a:xfrm>
            <a:off x="4736592" y="4782312"/>
            <a:ext cx="23134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0</a:t>
            </a:r>
            <a:r>
              <a:rPr sz="8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false alarms / 15,225 healthy samples · drifting sensor → engine </a:t>
            </a: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99/100</a:t>
            </a:r>
          </a:p>
        </p:txBody>
      </p:sp>
      <p:sp>
        <p:nvSpPr>
          <p:cNvPr id="15417" name="Rounded Rectangle 15416"/>
          <p:cNvSpPr/>
          <p:nvPr/>
        </p:nvSpPr>
        <p:spPr>
          <a:xfrm>
            <a:off x="274320" y="5358384"/>
            <a:ext cx="64008" cy="23774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8" name="TextBox 15417"/>
          <p:cNvSpPr txBox="1"/>
          <p:nvPr/>
        </p:nvSpPr>
        <p:spPr>
          <a:xfrm>
            <a:off x="393192" y="5321808"/>
            <a:ext cx="66934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Innovation and uniqueness of the solution</a:t>
            </a:r>
          </a:p>
        </p:txBody>
      </p:sp>
      <p:sp>
        <p:nvSpPr>
          <p:cNvPr id="15419" name="Rounded Rectangle 15418"/>
          <p:cNvSpPr/>
          <p:nvPr/>
        </p:nvSpPr>
        <p:spPr>
          <a:xfrm>
            <a:off x="274320" y="5660136"/>
            <a:ext cx="1645920" cy="640080"/>
          </a:xfrm>
          <a:prstGeom prst="roundRect">
            <a:avLst>
              <a:gd name="adj" fmla="val 14000"/>
            </a:avLst>
          </a:prstGeom>
          <a:solidFill>
            <a:srgbClr val="FFF3E4"/>
          </a:solidFill>
          <a:ln w="12700">
            <a:solidFill>
              <a:srgbClr val="E67E2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0" name="TextBox 15419"/>
          <p:cNvSpPr txBox="1"/>
          <p:nvPr/>
        </p:nvSpPr>
        <p:spPr>
          <a:xfrm>
            <a:off x="329184" y="5669280"/>
            <a:ext cx="1536192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🧬 </a:t>
            </a:r>
            <a:r>
              <a:rPr sz="1000" b="1" i="0" u="none">
                <a:solidFill>
                  <a:srgbClr val="9A4A06"/>
                </a:solidFill>
                <a:latin typeface="Segoe UI Semibold"/>
                <a:ea typeface="Segoe UI Semibold"/>
                <a:cs typeface="Segoe UI Semibold"/>
              </a:rPr>
              <a:t>Physics + AI</a:t>
            </a:r>
          </a:p>
          <a:p>
            <a:pPr algn="l">
              <a:lnSpc>
                <a:spcPct val="90000"/>
              </a:lnSpc>
            </a:pPr>
            <a:r>
              <a:rPr sz="83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every alert traces back to a measured deviation</a:t>
            </a:r>
          </a:p>
        </p:txBody>
      </p:sp>
      <p:sp>
        <p:nvSpPr>
          <p:cNvPr id="15421" name="Rounded Rectangle 15420"/>
          <p:cNvSpPr/>
          <p:nvPr/>
        </p:nvSpPr>
        <p:spPr>
          <a:xfrm>
            <a:off x="1996135" y="5660136"/>
            <a:ext cx="1645920" cy="640080"/>
          </a:xfrm>
          <a:prstGeom prst="roundRect">
            <a:avLst>
              <a:gd name="adj" fmla="val 14000"/>
            </a:avLst>
          </a:prstGeom>
          <a:solidFill>
            <a:srgbClr val="FFF3E4"/>
          </a:solidFill>
          <a:ln w="12700">
            <a:solidFill>
              <a:srgbClr val="E67E2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2" name="TextBox 15421"/>
          <p:cNvSpPr txBox="1"/>
          <p:nvPr/>
        </p:nvSpPr>
        <p:spPr>
          <a:xfrm>
            <a:off x="2050999" y="5669280"/>
            <a:ext cx="1536192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🛡️ </a:t>
            </a:r>
            <a:r>
              <a:rPr sz="1000" b="1" i="0" u="none">
                <a:solidFill>
                  <a:srgbClr val="9A4A06"/>
                </a:solidFill>
                <a:latin typeface="Segoe UI Semibold"/>
                <a:ea typeface="Segoe UI Semibold"/>
                <a:cs typeface="Segoe UI Semibold"/>
              </a:rPr>
              <a:t>Sensor or engine?</a:t>
            </a:r>
          </a:p>
          <a:p>
            <a:pPr algn="l">
              <a:lnSpc>
                <a:spcPct val="90000"/>
              </a:lnSpc>
            </a:pPr>
            <a:r>
              <a:rPr sz="83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CHT-2 +24 °C, EGT-2 within 1 °C → sensor drift</a:t>
            </a:r>
          </a:p>
        </p:txBody>
      </p:sp>
      <p:sp>
        <p:nvSpPr>
          <p:cNvPr id="15423" name="Rounded Rectangle 15422"/>
          <p:cNvSpPr/>
          <p:nvPr/>
        </p:nvSpPr>
        <p:spPr>
          <a:xfrm>
            <a:off x="3717950" y="5660136"/>
            <a:ext cx="1645920" cy="640080"/>
          </a:xfrm>
          <a:prstGeom prst="roundRect">
            <a:avLst>
              <a:gd name="adj" fmla="val 14000"/>
            </a:avLst>
          </a:prstGeom>
          <a:solidFill>
            <a:srgbClr val="FFF3E4"/>
          </a:solidFill>
          <a:ln w="12700">
            <a:solidFill>
              <a:srgbClr val="E67E2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4" name="TextBox 15423"/>
          <p:cNvSpPr txBox="1"/>
          <p:nvPr/>
        </p:nvSpPr>
        <p:spPr>
          <a:xfrm>
            <a:off x="3772814" y="5669280"/>
            <a:ext cx="1536192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🔌 </a:t>
            </a:r>
            <a:r>
              <a:rPr sz="1000" b="1" i="0" u="none">
                <a:solidFill>
                  <a:srgbClr val="9A4A06"/>
                </a:solidFill>
                <a:latin typeface="Segoe UI Semibold"/>
                <a:ea typeface="Segoe UI Semibold"/>
                <a:cs typeface="Segoe UI Semibold"/>
              </a:rPr>
              <a:t>Real-data ready</a:t>
            </a:r>
          </a:p>
          <a:p>
            <a:pPr algn="l">
              <a:lnSpc>
                <a:spcPct val="90000"/>
              </a:lnSpc>
            </a:pPr>
            <a:r>
              <a:rPr sz="83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CAN bus (DBC) and CSV through the same path</a:t>
            </a:r>
          </a:p>
        </p:txBody>
      </p:sp>
      <p:sp>
        <p:nvSpPr>
          <p:cNvPr id="15425" name="Rounded Rectangle 15424"/>
          <p:cNvSpPr/>
          <p:nvPr/>
        </p:nvSpPr>
        <p:spPr>
          <a:xfrm>
            <a:off x="5439765" y="5660136"/>
            <a:ext cx="1645920" cy="640080"/>
          </a:xfrm>
          <a:prstGeom prst="roundRect">
            <a:avLst>
              <a:gd name="adj" fmla="val 14000"/>
            </a:avLst>
          </a:prstGeom>
          <a:solidFill>
            <a:srgbClr val="FFF3E4"/>
          </a:solidFill>
          <a:ln w="12700">
            <a:solidFill>
              <a:srgbClr val="E67E2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6" name="TextBox 15425"/>
          <p:cNvSpPr txBox="1"/>
          <p:nvPr/>
        </p:nvSpPr>
        <p:spPr>
          <a:xfrm>
            <a:off x="5494629" y="5669280"/>
            <a:ext cx="1536192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🔁 </a:t>
            </a:r>
            <a:r>
              <a:rPr sz="1000" b="1" i="0" u="none">
                <a:solidFill>
                  <a:srgbClr val="9A4A06"/>
                </a:solidFill>
                <a:latin typeface="Segoe UI Semibold"/>
                <a:ea typeface="Segoe UI Semibold"/>
                <a:cs typeface="Segoe UI Semibold"/>
              </a:rPr>
              <a:t>Checkable</a:t>
            </a:r>
          </a:p>
          <a:p>
            <a:pPr algn="l">
              <a:lnSpc>
                <a:spcPct val="90000"/>
              </a:lnSpc>
            </a:pPr>
            <a:r>
              <a:rPr sz="83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truth hidden from the AI; replay 947/947 identical</a:t>
            </a:r>
          </a:p>
        </p:txBody>
      </p:sp>
      <p:sp>
        <p:nvSpPr>
          <p:cNvPr id="15427" name="Rounded Rectangle 15426"/>
          <p:cNvSpPr/>
          <p:nvPr/>
        </p:nvSpPr>
        <p:spPr>
          <a:xfrm>
            <a:off x="7132320" y="1417320"/>
            <a:ext cx="4846320" cy="250661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8" name="Picture 15427" descr="hero_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63040"/>
            <a:ext cx="4754880" cy="2415177"/>
          </a:xfrm>
          <a:prstGeom prst="rect">
            <a:avLst/>
          </a:prstGeom>
        </p:spPr>
      </p:pic>
      <p:sp>
        <p:nvSpPr>
          <p:cNvPr id="15429" name="Rounded Rectangle 15428"/>
          <p:cNvSpPr/>
          <p:nvPr/>
        </p:nvSpPr>
        <p:spPr>
          <a:xfrm>
            <a:off x="9248793" y="1486930"/>
            <a:ext cx="586202" cy="130338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0" name="Rounded Rectangle 15429"/>
          <p:cNvSpPr/>
          <p:nvPr/>
        </p:nvSpPr>
        <p:spPr>
          <a:xfrm>
            <a:off x="9093345" y="1733818"/>
            <a:ext cx="2331720" cy="24688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AI: oil-pump cavitation, named in 1.5 s</a:t>
            </a:r>
          </a:p>
        </p:txBody>
      </p:sp>
      <p:sp>
        <p:nvSpPr>
          <p:cNvPr id="15431" name="Rounded Rectangle 15430"/>
          <p:cNvSpPr/>
          <p:nvPr/>
        </p:nvSpPr>
        <p:spPr>
          <a:xfrm>
            <a:off x="9804283" y="1486930"/>
            <a:ext cx="719037" cy="130338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2" name="Rounded Rectangle 15431"/>
          <p:cNvSpPr/>
          <p:nvPr/>
        </p:nvSpPr>
        <p:spPr>
          <a:xfrm>
            <a:off x="10060315" y="2017282"/>
            <a:ext cx="1783080" cy="24688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injected truth: hidden from AI</a:t>
            </a:r>
          </a:p>
        </p:txBody>
      </p:sp>
      <p:sp>
        <p:nvSpPr>
          <p:cNvPr id="15433" name="TextBox 15432"/>
          <p:cNvSpPr txBox="1"/>
          <p:nvPr/>
        </p:nvSpPr>
        <p:spPr>
          <a:xfrm>
            <a:off x="7178040" y="3914793"/>
            <a:ext cx="4754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Working prototype: 3D engine twin during an injected oil-pump fault (simulated)</a:t>
            </a:r>
          </a:p>
        </p:txBody>
      </p:sp>
      <p:graphicFrame>
        <p:nvGraphicFramePr>
          <p:cNvPr id="15434" name="Chart 15433"/>
          <p:cNvGraphicFramePr>
            <a:graphicFrameLocks noGrp="1"/>
          </p:cNvGraphicFramePr>
          <p:nvPr/>
        </p:nvGraphicFramePr>
        <p:xfrm>
          <a:off x="7132320" y="4179969"/>
          <a:ext cx="4846320" cy="157276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435" name="TextBox 15434"/>
          <p:cNvSpPr txBox="1"/>
          <p:nvPr/>
        </p:nvSpPr>
        <p:spPr>
          <a:xfrm>
            <a:off x="7178040" y="5752737"/>
            <a:ext cx="47548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Twin expects 3.85 bar, sensor reads 1.67 bar → residual −2.2 bar. </a:t>
            </a:r>
            <a:r>
              <a:rPr sz="9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Most consistent with oil-pump cavitation; a sensor fault or model error is also possible, so the evidence stays on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500"/>
              <a:t>GarudaAstra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6400800"/>
            <a:ext cx="4206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●  WORKING PROTOTYPE · ALL ENGINE DATA SHOWN IS SIMULATED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4320" y="1152144"/>
            <a:ext cx="64008" cy="4297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393192" y="1115568"/>
            <a:ext cx="376732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Technologies to be used (e.g. programming languages, frameworks, hardware)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74320" y="1691640"/>
            <a:ext cx="3886200" cy="8412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47472" y="1728216"/>
            <a:ext cx="37490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🖥️ </a:t>
            </a:r>
            <a:r>
              <a:rPr sz="12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Ground-station UI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84048" y="2057400"/>
            <a:ext cx="452628" cy="210312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React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91539" y="2057400"/>
            <a:ext cx="384048" cy="21031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Vite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330451" y="2057400"/>
            <a:ext cx="658368" cy="2103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Three.js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043684" y="2057400"/>
            <a:ext cx="932688" cy="2103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Tailwind CSS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031236" y="2057400"/>
            <a:ext cx="589788" cy="21031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Leaflet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74320" y="2606040"/>
            <a:ext cx="3886200" cy="8412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347472" y="2642616"/>
            <a:ext cx="37490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🔌 </a:t>
            </a:r>
            <a:r>
              <a:rPr sz="12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Gateway &amp; recorder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84048" y="2971800"/>
            <a:ext cx="589788" cy="210312"/>
          </a:xfrm>
          <a:prstGeom prst="roundRect">
            <a:avLst>
              <a:gd name="adj" fmla="val 50000"/>
            </a:avLst>
          </a:prstGeom>
          <a:solidFill>
            <a:srgbClr val="3C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Node.js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28700" y="2971800"/>
            <a:ext cx="589788" cy="210312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Express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673352" y="2971800"/>
            <a:ext cx="726947" cy="21031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Socket.IO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2455164" y="2971800"/>
            <a:ext cx="521207" cy="210312"/>
          </a:xfrm>
          <a:prstGeom prst="roundRect">
            <a:avLst>
              <a:gd name="adj" fmla="val 50000"/>
            </a:avLst>
          </a:prstGeom>
          <a:solidFill>
            <a:srgbClr val="0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SQLite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74320" y="3520440"/>
            <a:ext cx="3886200" cy="8412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347472" y="3557016"/>
            <a:ext cx="37490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🧠 </a:t>
            </a:r>
            <a:r>
              <a:rPr sz="12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AI service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84048" y="3886200"/>
            <a:ext cx="521207" cy="210312"/>
          </a:xfrm>
          <a:prstGeom prst="roundRect">
            <a:avLst>
              <a:gd name="adj" fmla="val 50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Python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960119" y="3886200"/>
            <a:ext cx="589788" cy="210312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FastAPI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1604772" y="3886200"/>
            <a:ext cx="589788" cy="210312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XGBoost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249424" y="3886200"/>
            <a:ext cx="932688" cy="210312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scikit-learn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84048" y="4133087"/>
            <a:ext cx="1069848" cy="210312"/>
          </a:xfrm>
          <a:prstGeom prst="roundRect">
            <a:avLst>
              <a:gd name="adj" fmla="val 50000"/>
            </a:avLst>
          </a:prstGeom>
          <a:solidFill>
            <a:srgbClr val="4D7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NumPy · pandas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74320" y="4434840"/>
            <a:ext cx="3886200" cy="8412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47472" y="4471416"/>
            <a:ext cx="37490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📡 </a:t>
            </a:r>
            <a:r>
              <a:rPr sz="12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Engine bus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84048" y="4800600"/>
            <a:ext cx="589788" cy="21031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CAN bus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28700" y="4800600"/>
            <a:ext cx="1069848" cy="2103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DBC · cantools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153412" y="4800600"/>
            <a:ext cx="795528" cy="2103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python-can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274320" y="5349240"/>
            <a:ext cx="3886200" cy="8412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347472" y="5385816"/>
            <a:ext cx="37490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💻 </a:t>
            </a:r>
            <a:r>
              <a:rPr sz="12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Hardware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84048" y="5715000"/>
            <a:ext cx="1069848" cy="21031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Laptop (today)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508760" y="5715000"/>
            <a:ext cx="1618488" cy="21031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USB-CAN adapter (next)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43400" y="1152144"/>
            <a:ext cx="64008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4462272" y="1115568"/>
            <a:ext cx="74706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Methodology and process for implementation (Flow Charts/Images/ working prototype)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389120" y="1600200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F6FB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Rounded Rectangle 17444"/>
          <p:cNvSpPr/>
          <p:nvPr/>
        </p:nvSpPr>
        <p:spPr>
          <a:xfrm>
            <a:off x="4389120" y="1600200"/>
            <a:ext cx="2331720" cy="347472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4434840" y="1618488"/>
            <a:ext cx="2240279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📡 </a:t>
            </a:r>
            <a:r>
              <a:rPr sz="12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① Engine data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462272" y="1993392"/>
            <a:ext cx="2185415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Simulator · CAN bus (DBC) · recorded CSV: one path, 25 channels.
CAN virtual rig: 67/67 frames accepted.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605272" y="265176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✓ DEMONSTRATED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967728" y="1600200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F766E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Rounded Rectangle 17449"/>
          <p:cNvSpPr/>
          <p:nvPr/>
        </p:nvSpPr>
        <p:spPr>
          <a:xfrm>
            <a:off x="6967728" y="1600200"/>
            <a:ext cx="2331720" cy="347472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7013448" y="1618488"/>
            <a:ext cx="2240279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🔌 </a:t>
            </a:r>
            <a:r>
              <a:rPr sz="12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② Gateway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7040880" y="1993392"/>
            <a:ext cx="2185415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Range &amp; time checks; 20 Hz to the screen.
No frame for 2 s → NO DATA, never NOMINAL.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183879" y="265176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✓ DEMONSTRATED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546336" y="1600200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6A4C93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ounded Rectangle 17454"/>
          <p:cNvSpPr/>
          <p:nvPr/>
        </p:nvSpPr>
        <p:spPr>
          <a:xfrm>
            <a:off x="9546336" y="1600200"/>
            <a:ext cx="2331720" cy="347472"/>
          </a:xfrm>
          <a:prstGeom prst="roundRect">
            <a:avLst>
              <a:gd name="adj" fmla="val 25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9592056" y="1618488"/>
            <a:ext cx="2240279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⚙️ </a:t>
            </a:r>
            <a:r>
              <a:rPr sz="12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③ Golden twin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9619488" y="1993392"/>
            <a:ext cx="2185415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Physics model with thermal lag.
Throttle, RPM, altitude, air temp → expected value of every reading.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10762487" y="265176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✓ DEMONSTRATED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9546336" y="3200400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B45309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Rounded Rectangle 17459"/>
          <p:cNvSpPr/>
          <p:nvPr/>
        </p:nvSpPr>
        <p:spPr>
          <a:xfrm>
            <a:off x="9546336" y="3200400"/>
            <a:ext cx="2331720" cy="347472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9592056" y="3218688"/>
            <a:ext cx="2240279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📐 </a:t>
            </a:r>
            <a:r>
              <a:rPr sz="12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④ Residuals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9619488" y="3593592"/>
            <a:ext cx="2185415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observed − expected, every reading.
→ 45 features incl. 8-sample means.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10762487" y="425196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✓ DEMONSTRATED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6967728" y="3200400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C6282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Rounded Rectangle 17464"/>
          <p:cNvSpPr/>
          <p:nvPr/>
        </p:nvSpPr>
        <p:spPr>
          <a:xfrm>
            <a:off x="6967728" y="3200400"/>
            <a:ext cx="2331720" cy="347472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7013448" y="3218688"/>
            <a:ext cx="2240279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🧠 </a:t>
            </a:r>
            <a:r>
              <a:rPr sz="12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⑤ Explainable AI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7040880" y="3593592"/>
            <a:ext cx="2185415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Mahalanobis anomaly detector (Ledoit-Wolf).
XGBoost names 1 of 11 faults; TreeSHAP shows why.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8183879" y="425196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✓ DEMONSTRATED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4389120" y="3200400"/>
            <a:ext cx="2331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B2545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Rounded Rectangle 17469"/>
          <p:cNvSpPr/>
          <p:nvPr/>
        </p:nvSpPr>
        <p:spPr>
          <a:xfrm>
            <a:off x="4389120" y="3200400"/>
            <a:ext cx="2331720" cy="347472"/>
          </a:xfrm>
          <a:prstGeom prst="roundRect">
            <a:avLst>
              <a:gd name="adj" fmla="val 2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4434840" y="3218688"/>
            <a:ext cx="2240279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🖥️ </a:t>
            </a:r>
            <a:r>
              <a:rPr sz="12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⑥ Operator GCS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4462272" y="3593592"/>
            <a:ext cx="2185415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3D twin, evidence table, fleet, what-if, RTB planner.
Advice only: the operator decides.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5605272" y="4251960"/>
            <a:ext cx="1042415" cy="182880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✓ DEMONSTRATED</a:t>
            </a:r>
          </a:p>
        </p:txBody>
      </p:sp>
      <p:sp>
        <p:nvSpPr>
          <p:cNvPr id="17474" name="Right Arrow 17473"/>
          <p:cNvSpPr/>
          <p:nvPr/>
        </p:nvSpPr>
        <p:spPr>
          <a:xfrm>
            <a:off x="6757416" y="2103120"/>
            <a:ext cx="182880" cy="274320"/>
          </a:xfrm>
          <a:prstGeom prst="rightArrow">
            <a:avLst/>
          </a:prstGeom>
          <a:solidFill>
            <a:srgbClr val="4F5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Right Arrow 17474"/>
          <p:cNvSpPr/>
          <p:nvPr/>
        </p:nvSpPr>
        <p:spPr>
          <a:xfrm>
            <a:off x="9336024" y="2103120"/>
            <a:ext cx="182880" cy="274320"/>
          </a:xfrm>
          <a:prstGeom prst="rightArrow">
            <a:avLst/>
          </a:prstGeom>
          <a:solidFill>
            <a:srgbClr val="4F5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Down Arrow 17475"/>
          <p:cNvSpPr/>
          <p:nvPr/>
        </p:nvSpPr>
        <p:spPr>
          <a:xfrm>
            <a:off x="10575036" y="2935224"/>
            <a:ext cx="274320" cy="201168"/>
          </a:xfrm>
          <a:prstGeom prst="downArrow">
            <a:avLst/>
          </a:prstGeom>
          <a:solidFill>
            <a:srgbClr val="4F5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Left Arrow 17476"/>
          <p:cNvSpPr/>
          <p:nvPr/>
        </p:nvSpPr>
        <p:spPr>
          <a:xfrm>
            <a:off x="9326880" y="3703320"/>
            <a:ext cx="182880" cy="274320"/>
          </a:xfrm>
          <a:prstGeom prst="leftArrow">
            <a:avLst/>
          </a:prstGeom>
          <a:solidFill>
            <a:srgbClr val="4F5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Left Arrow 17477"/>
          <p:cNvSpPr/>
          <p:nvPr/>
        </p:nvSpPr>
        <p:spPr>
          <a:xfrm>
            <a:off x="6748272" y="3703320"/>
            <a:ext cx="182880" cy="274320"/>
          </a:xfrm>
          <a:prstGeom prst="leftArrow">
            <a:avLst/>
          </a:prstGeom>
          <a:solidFill>
            <a:srgbClr val="4F5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Rounded Rectangle 17478"/>
          <p:cNvSpPr/>
          <p:nvPr/>
        </p:nvSpPr>
        <p:spPr>
          <a:xfrm>
            <a:off x="4389120" y="4681728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1F6FB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0" name="TextBox 17479"/>
          <p:cNvSpPr txBox="1"/>
          <p:nvPr/>
        </p:nvSpPr>
        <p:spPr>
          <a:xfrm>
            <a:off x="4462272" y="4727448"/>
            <a:ext cx="219456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🗄️ </a:t>
            </a:r>
            <a:r>
              <a:rPr sz="11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Flight recorder &amp; replay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Every flight saved (SQLite) with the samples the AI scored; any flight or CSV can be replayed.</a:t>
            </a:r>
          </a:p>
          <a:p>
            <a:pPr algn="l"/>
            <a:r>
              <a:rPr sz="13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947 / 947 </a:t>
            </a:r>
            <a:r>
              <a:rPr sz="95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decisions identical on replay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6967728" y="4681728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F2ECF9"/>
          </a:solidFill>
          <a:ln w="12700">
            <a:solidFill>
              <a:srgbClr val="6A4C93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TextBox 17481"/>
          <p:cNvSpPr txBox="1"/>
          <p:nvPr/>
        </p:nvSpPr>
        <p:spPr>
          <a:xfrm>
            <a:off x="7040880" y="4727448"/>
            <a:ext cx="219456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🧪 </a:t>
            </a:r>
            <a:r>
              <a:rPr sz="11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AI training &amp; testing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378,618 simulated samples · 5,400 episodes · 12 classes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Split by episode 70/15/15: scored only on episodes never seen in training</a:t>
            </a:r>
          </a:p>
          <a:p>
            <a:pPr algn="l"/>
            <a:r>
              <a:rPr sz="1200" b="1" i="0" u="none">
                <a:solidFill>
                  <a:srgbClr val="6A4C93"/>
                </a:solidFill>
                <a:latin typeface="Segoe UI Semibold"/>
                <a:ea typeface="Segoe UI Semibold"/>
                <a:cs typeface="Segoe UI Semibold"/>
              </a:rPr>
              <a:t>Macro F1 0.98</a:t>
            </a:r>
            <a:r>
              <a:rPr sz="950" b="1" i="0" u="none">
                <a:solidFill>
                  <a:srgbClr val="6A4C93"/>
                </a:solidFill>
                <a:latin typeface="Segoe UI Semibold"/>
                <a:ea typeface="Segoe UI Semibold"/>
                <a:cs typeface="Segoe UI Semibold"/>
              </a:rPr>
              <a:t> (fault naming)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9546336" y="4681728"/>
            <a:ext cx="23317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4" name="Picture 17483" descr="gcs_thu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736592"/>
            <a:ext cx="2221992" cy="1119225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9582912" y="5874105"/>
            <a:ext cx="225856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8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Working prototype: </a:t>
            </a:r>
            <a:r>
              <a:rPr sz="850" b="0" i="0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3D twin + component inspector (expected vs observed)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500"/>
              <a:t>GarudaAstra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6400800"/>
            <a:ext cx="4206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●  WORKING PROTOTYPE · ALL ENGINE DATA SHOWN IS SIMULATED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4320" y="1133856"/>
            <a:ext cx="64008" cy="23774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393192" y="1097280"/>
            <a:ext cx="719632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Analysis of the feasibility of the idea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74320" y="1481328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 w="15875">
            <a:solidFill>
              <a:srgbClr val="1E8E4E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20040" y="1517904"/>
            <a:ext cx="1645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✅ </a:t>
            </a:r>
            <a:r>
              <a:rPr sz="17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Runs today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1993392"/>
            <a:ext cx="16459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Full loop on one laptop:
data → twin → AI → screen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103120" y="1481328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1F6FB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2148839" y="1517904"/>
            <a:ext cx="1645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🧪 </a:t>
            </a:r>
            <a:r>
              <a:rPr sz="1700" b="1" i="0" u="none">
                <a:solidFill>
                  <a:srgbClr val="1F6FB2"/>
                </a:solidFill>
                <a:latin typeface="Segoe UI Semibold"/>
                <a:ea typeface="Segoe UI Semibold"/>
                <a:cs typeface="Segoe UI Semibold"/>
              </a:rPr>
              <a:t>7 test suites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148839" y="1993392"/>
            <a:ext cx="16459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automated tests pass on
a clean install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931920" y="1481328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F2ECF9"/>
          </a:solidFill>
          <a:ln w="15875">
            <a:solidFill>
              <a:srgbClr val="6A4C93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3977639" y="1517904"/>
            <a:ext cx="1645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📊 </a:t>
            </a:r>
            <a:r>
              <a:rPr sz="1700" b="1" i="0" u="none">
                <a:solidFill>
                  <a:srgbClr val="6A4C93"/>
                </a:solidFill>
                <a:latin typeface="Segoe UI Semibold"/>
                <a:ea typeface="Segoe UI Semibold"/>
                <a:cs typeface="Segoe UI Semibold"/>
              </a:rPr>
              <a:t>378,618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977639" y="1993392"/>
            <a:ext cx="16459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simulated training samples,
5,400 episodes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760720" y="1481328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FFF3E4"/>
          </a:solidFill>
          <a:ln w="15875">
            <a:solidFill>
              <a:srgbClr val="B45309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5806440" y="1517904"/>
            <a:ext cx="1645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🔌 </a:t>
            </a:r>
            <a:r>
              <a:rPr sz="1700" b="1" i="0" u="none">
                <a:solidFill>
                  <a:srgbClr val="B45309"/>
                </a:solidFill>
                <a:latin typeface="Segoe UI Semibold"/>
                <a:ea typeface="Segoe UI Semibold"/>
                <a:cs typeface="Segoe UI Semibold"/>
              </a:rPr>
              <a:t>67 / 67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806440" y="1993392"/>
            <a:ext cx="16459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CAN frames accepted from
the virtual rig (DBC decode)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74320" y="2651760"/>
            <a:ext cx="7223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💰 </a:t>
            </a:r>
            <a:r>
              <a:rPr sz="11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Economic: </a:t>
            </a:r>
            <a:r>
              <a:rPr sz="11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open-source stack, no licence cost; runs on a laptop; a USB-CAN adapter is the only new hardware.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726679" y="1097280"/>
            <a:ext cx="4206240" cy="190195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7818120" y="1133856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🪜 </a:t>
            </a:r>
            <a:r>
              <a:rPr sz="12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Readiness ladder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863840" y="1444752"/>
            <a:ext cx="2331720" cy="256032"/>
          </a:xfrm>
          <a:prstGeom prst="roundRect">
            <a:avLst>
              <a:gd name="adj" fmla="val 3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Simulation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0241280" y="1444752"/>
            <a:ext cx="914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✓ done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156448" y="1751076"/>
            <a:ext cx="2331720" cy="256032"/>
          </a:xfrm>
          <a:prstGeom prst="roundRect">
            <a:avLst>
              <a:gd name="adj" fmla="val 3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Live CAN path (virtual rig)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0533888" y="1751076"/>
            <a:ext cx="914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✓ done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449056" y="2057400"/>
            <a:ext cx="2331720" cy="256032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Engine test bench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0826496" y="2057400"/>
            <a:ext cx="914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→ next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741663" y="2363724"/>
            <a:ext cx="2331720" cy="256032"/>
          </a:xfrm>
          <a:prstGeom prst="roundRect">
            <a:avLst>
              <a:gd name="adj" fmla="val 3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Flight logs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1119103" y="2363724"/>
            <a:ext cx="914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E67E22"/>
                </a:solidFill>
                <a:latin typeface="Segoe UI Semibold"/>
                <a:ea typeface="Segoe UI Semibold"/>
                <a:cs typeface="Segoe UI Semibold"/>
              </a:rPr>
              <a:t>→ next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9034272" y="2670048"/>
            <a:ext cx="2331720" cy="256032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Fleet trial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1411711" y="2670048"/>
            <a:ext cx="914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94A3B8"/>
                </a:solidFill>
                <a:latin typeface="Segoe UI Semibold"/>
                <a:ea typeface="Segoe UI Semibold"/>
                <a:cs typeface="Segoe UI Semibold"/>
              </a:rPr>
              <a:t>→ later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274320" y="3163824"/>
            <a:ext cx="64008" cy="2377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393192" y="3127248"/>
            <a:ext cx="536752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Potential challenges and risks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309360" y="3163824"/>
            <a:ext cx="64008" cy="237744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6428232" y="3127248"/>
            <a:ext cx="545896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Strategies for overcoming these challenges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74320" y="3511296"/>
            <a:ext cx="5532120" cy="512064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 w="12700">
            <a:solidFill>
              <a:srgbClr val="F3B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347472" y="3529584"/>
            <a:ext cx="53949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⚠️ </a:t>
            </a:r>
            <a:r>
              <a:rPr sz="11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No real engine fault data yet</a:t>
            </a: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– all results are on simulated data</a:t>
            </a:r>
          </a:p>
        </p:txBody>
      </p:sp>
      <p:sp>
        <p:nvSpPr>
          <p:cNvPr id="17444" name="Right Arrow 17443"/>
          <p:cNvSpPr/>
          <p:nvPr/>
        </p:nvSpPr>
        <p:spPr>
          <a:xfrm>
            <a:off x="5870448" y="3648456"/>
            <a:ext cx="365760" cy="237744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6309360" y="3511296"/>
            <a:ext cx="5623560" cy="512064"/>
          </a:xfrm>
          <a:prstGeom prst="roundRect">
            <a:avLst>
              <a:gd name="adj" fmla="val 15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6382512" y="3529584"/>
            <a:ext cx="5486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✅ </a:t>
            </a:r>
            <a:r>
              <a:rPr sz="10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Engine test-bench and flight logs; calibrate the twin per engine; repeat the same comparison on real data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274320" y="4069080"/>
            <a:ext cx="5532120" cy="512064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 w="12700">
            <a:solidFill>
              <a:srgbClr val="F3B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347472" y="4087368"/>
            <a:ext cx="53949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⚠️ </a:t>
            </a:r>
            <a:r>
              <a:rPr sz="11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Uncalibrated sensors</a:t>
            </a: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– stress test: fault-naming F1 falls 0.98 → 0.50</a:t>
            </a:r>
          </a:p>
        </p:txBody>
      </p:sp>
      <p:sp>
        <p:nvSpPr>
          <p:cNvPr id="17449" name="Right Arrow 17448"/>
          <p:cNvSpPr/>
          <p:nvPr/>
        </p:nvSpPr>
        <p:spPr>
          <a:xfrm>
            <a:off x="5870448" y="4206240"/>
            <a:ext cx="365760" cy="237744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6309360" y="4069080"/>
            <a:ext cx="5623560" cy="512064"/>
          </a:xfrm>
          <a:prstGeom prst="roundRect">
            <a:avLst>
              <a:gd name="adj" fmla="val 15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6382512" y="4087368"/>
            <a:ext cx="5486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✅ </a:t>
            </a:r>
            <a:r>
              <a:rPr sz="10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Calibrate on each engine's healthy runs; sensor cross-checks; train with offset variety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274320" y="4626864"/>
            <a:ext cx="5532120" cy="512064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 w="12700">
            <a:solidFill>
              <a:srgbClr val="F3B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347472" y="4645152"/>
            <a:ext cx="53949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⚠️ </a:t>
            </a:r>
            <a:r>
              <a:rPr sz="11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Twin constants are engineering assumptions</a:t>
            </a: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– public specs, not yet validated</a:t>
            </a:r>
          </a:p>
        </p:txBody>
      </p:sp>
      <p:sp>
        <p:nvSpPr>
          <p:cNvPr id="17454" name="Right Arrow 17453"/>
          <p:cNvSpPr/>
          <p:nvPr/>
        </p:nvSpPr>
        <p:spPr>
          <a:xfrm>
            <a:off x="5870448" y="4764024"/>
            <a:ext cx="365760" cy="237744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ounded Rectangle 17454"/>
          <p:cNvSpPr/>
          <p:nvPr/>
        </p:nvSpPr>
        <p:spPr>
          <a:xfrm>
            <a:off x="6309360" y="4626864"/>
            <a:ext cx="5623560" cy="512064"/>
          </a:xfrm>
          <a:prstGeom prst="roundRect">
            <a:avLst>
              <a:gd name="adj" fmla="val 15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6382512" y="4645152"/>
            <a:ext cx="5486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✅ </a:t>
            </a:r>
            <a:r>
              <a:rPr sz="10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Fit the constants from test-bench runs; keep data-quality and NO DATA checks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274320" y="5184648"/>
            <a:ext cx="5532120" cy="512064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 w="12700">
            <a:solidFill>
              <a:srgbClr val="F3B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347472" y="5202936"/>
            <a:ext cx="53949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⚠️ </a:t>
            </a:r>
            <a:r>
              <a:rPr sz="11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Operator trust in an AI</a:t>
            </a: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– a wrong call must never act on its own</a:t>
            </a:r>
          </a:p>
        </p:txBody>
      </p:sp>
      <p:sp>
        <p:nvSpPr>
          <p:cNvPr id="17459" name="Right Arrow 17458"/>
          <p:cNvSpPr/>
          <p:nvPr/>
        </p:nvSpPr>
        <p:spPr>
          <a:xfrm>
            <a:off x="5870448" y="5321808"/>
            <a:ext cx="365760" cy="237744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Rounded Rectangle 17459"/>
          <p:cNvSpPr/>
          <p:nvPr/>
        </p:nvSpPr>
        <p:spPr>
          <a:xfrm>
            <a:off x="6309360" y="5184648"/>
            <a:ext cx="5623560" cy="512064"/>
          </a:xfrm>
          <a:prstGeom prst="roundRect">
            <a:avLst>
              <a:gd name="adj" fmla="val 15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6382512" y="5202936"/>
            <a:ext cx="5486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✅ </a:t>
            </a:r>
            <a:r>
              <a:rPr sz="10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Evidence on screen, truth hidden from the AI, operator decides; nothing automatic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274320" y="5742432"/>
            <a:ext cx="5532120" cy="512064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 w="12700">
            <a:solidFill>
              <a:srgbClr val="F3B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347472" y="5760720"/>
            <a:ext cx="539496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⚠️ </a:t>
            </a:r>
            <a:r>
              <a:rPr sz="11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Remaining life needs failure-progression data</a:t>
            </a: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17464" name="Right Arrow 17463"/>
          <p:cNvSpPr/>
          <p:nvPr/>
        </p:nvSpPr>
        <p:spPr>
          <a:xfrm>
            <a:off x="5870448" y="5879592"/>
            <a:ext cx="365760" cy="237744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6309360" y="5742432"/>
            <a:ext cx="5623560" cy="512064"/>
          </a:xfrm>
          <a:prstGeom prst="roundRect">
            <a:avLst>
              <a:gd name="adj" fmla="val 15000"/>
            </a:avLst>
          </a:prstGeom>
          <a:solidFill>
            <a:srgbClr val="E7F5EC"/>
          </a:solidFill>
          <a:ln w="12700">
            <a:solidFill>
              <a:srgbClr val="A7D7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6382512" y="5760720"/>
            <a:ext cx="5486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✅ </a:t>
            </a:r>
            <a:r>
              <a:rPr sz="10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Kept as research until run-to-failure or maintenance records exist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500"/>
              <a:t>GarudaAstra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6400800"/>
            <a:ext cx="4206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●  WORKING PROTOTYPE · ALL ENGINE DATA SHOWN IS SIMULATED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4320" y="1097280"/>
            <a:ext cx="11658600" cy="26974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3DDE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11480" y="1133856"/>
            <a:ext cx="82296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📈 </a:t>
            </a:r>
            <a:r>
              <a:rPr sz="13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Measured: same 810 held-out simulated test episodes for every method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417320"/>
            <a:ext cx="8229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48,920 test samples (15,225 healthy) · an alarm needs 2 consecutive samples · simulator results, not yet real-engine results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11480" y="1664208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Method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880360" y="1664208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Faults caught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892040" y="1664208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Small faults (5–15 %)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00800" y="1664208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False alarms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543800" y="1664208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Names it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1920240"/>
            <a:ext cx="822960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457200" y="1920240"/>
            <a:ext cx="24231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Fixed limits (hand-set)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880360" y="205740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Rounded Rectangle 17421"/>
          <p:cNvSpPr/>
          <p:nvPr/>
        </p:nvSpPr>
        <p:spPr>
          <a:xfrm>
            <a:off x="2880360" y="2057400"/>
            <a:ext cx="360730" cy="14630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279392" y="1920240"/>
            <a:ext cx="5943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26.3 %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892040" y="205740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4892040" y="2057400"/>
            <a:ext cx="179222" cy="14630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5833872" y="1920240"/>
            <a:ext cx="566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20 %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400800" y="1920240"/>
            <a:ext cx="10972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2,110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543800" y="1920240"/>
            <a:ext cx="10515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No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2377440"/>
            <a:ext cx="822960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457200" y="2377440"/>
            <a:ext cx="24231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Limits tuned on healthy data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880360" y="251460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Rounded Rectangle 17431"/>
          <p:cNvSpPr/>
          <p:nvPr/>
        </p:nvSpPr>
        <p:spPr>
          <a:xfrm>
            <a:off x="2880360" y="2514600"/>
            <a:ext cx="93680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279392" y="2377440"/>
            <a:ext cx="5943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68.3 %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892040" y="251460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Rounded Rectangle 17434"/>
          <p:cNvSpPr/>
          <p:nvPr/>
        </p:nvSpPr>
        <p:spPr>
          <a:xfrm>
            <a:off x="4892040" y="2514600"/>
            <a:ext cx="33924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5833872" y="2377440"/>
            <a:ext cx="566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37 %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400800" y="2377440"/>
            <a:ext cx="10972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137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543800" y="2377440"/>
            <a:ext cx="10515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No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65760" y="2834640"/>
            <a:ext cx="822960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457200" y="2834640"/>
            <a:ext cx="24231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+ physics twin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2880360" y="297180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Rounded Rectangle 17441"/>
          <p:cNvSpPr/>
          <p:nvPr/>
        </p:nvSpPr>
        <p:spPr>
          <a:xfrm>
            <a:off x="2880360" y="2971800"/>
            <a:ext cx="1276959" cy="146304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4279392" y="2834640"/>
            <a:ext cx="5943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93.1 %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892040" y="297180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Rounded Rectangle 17444"/>
          <p:cNvSpPr/>
          <p:nvPr/>
        </p:nvSpPr>
        <p:spPr>
          <a:xfrm>
            <a:off x="4892040" y="2971800"/>
            <a:ext cx="824788" cy="146304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5833872" y="2834640"/>
            <a:ext cx="566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90 %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400800" y="2834640"/>
            <a:ext cx="10972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543800" y="2834640"/>
            <a:ext cx="10515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 u="none">
                <a:solidFill>
                  <a:srgbClr val="4F5D6E"/>
                </a:solidFill>
                <a:latin typeface="Segoe UI Semibold"/>
                <a:ea typeface="Segoe UI Semibold"/>
                <a:cs typeface="Segoe UI Semibold"/>
              </a:rPr>
              <a:t>No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65760" y="3291840"/>
            <a:ext cx="8229600" cy="420624"/>
          </a:xfrm>
          <a:prstGeom prst="roundRect">
            <a:avLst>
              <a:gd name="adj" fmla="val 20000"/>
            </a:avLst>
          </a:prstGeom>
          <a:solidFill>
            <a:srgbClr val="E7F5EC"/>
          </a:solidFill>
          <a:ln w="19050">
            <a:solidFill>
              <a:srgbClr val="1E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457200" y="3291840"/>
            <a:ext cx="24231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+ AI = GarudaTwin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2880360" y="342900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Rounded Rectangle 17451"/>
          <p:cNvSpPr/>
          <p:nvPr/>
        </p:nvSpPr>
        <p:spPr>
          <a:xfrm>
            <a:off x="2880360" y="3429000"/>
            <a:ext cx="1323594" cy="146304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4279392" y="3291840"/>
            <a:ext cx="5943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96.5 %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892040" y="342900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ounded Rectangle 17454"/>
          <p:cNvSpPr/>
          <p:nvPr/>
        </p:nvSpPr>
        <p:spPr>
          <a:xfrm>
            <a:off x="4892040" y="3429000"/>
            <a:ext cx="877824" cy="146304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5833872" y="3291840"/>
            <a:ext cx="566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96 %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400800" y="3291840"/>
            <a:ext cx="10972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0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543800" y="3291840"/>
            <a:ext cx="10515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Yes (F1 0.98)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778240" y="1234440"/>
            <a:ext cx="3017520" cy="245059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8869680" y="1298448"/>
            <a:ext cx="2834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 i="0" u="none">
                <a:solidFill>
                  <a:srgbClr val="FBBF24"/>
                </a:solidFill>
                <a:latin typeface="Segoe UI Semibold"/>
                <a:ea typeface="Segoe UI Semibold"/>
                <a:cs typeface="Segoe UI Semibold"/>
              </a:rPr>
              <a:t>FALSE ALARMS ON HEALTHY ENGINES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869680" y="1572768"/>
            <a:ext cx="28346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600" b="1" i="0" u="none">
                <a:solidFill>
                  <a:srgbClr val="F87171"/>
                </a:solidFill>
                <a:latin typeface="Segoe UI Semibold"/>
                <a:ea typeface="Segoe UI Semibold"/>
                <a:cs typeface="Segoe UI Semibold"/>
              </a:rPr>
              <a:t>2,110 </a:t>
            </a:r>
            <a:r>
              <a:rPr sz="22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→ </a:t>
            </a:r>
            <a:r>
              <a:rPr sz="3000" b="1" i="0" u="none">
                <a:solidFill>
                  <a:srgbClr val="4ADE80"/>
                </a:solidFill>
                <a:latin typeface="Segoe UI Semibold"/>
                <a:ea typeface="Segoe UI Semibold"/>
                <a:cs typeface="Segoe UI Semibold"/>
              </a:rPr>
              <a:t>0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869680" y="2240280"/>
            <a:ext cx="2834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 i="0" u="none">
                <a:solidFill>
                  <a:srgbClr val="FBBF24"/>
                </a:solidFill>
                <a:latin typeface="Segoe UI Semibold"/>
                <a:ea typeface="Segoe UI Semibold"/>
                <a:cs typeface="Segoe UI Semibold"/>
              </a:rPr>
              <a:t>SMALL FAULTS CAUGHT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8869680" y="2487168"/>
            <a:ext cx="2834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400" b="1" i="0" u="none">
                <a:solidFill>
                  <a:srgbClr val="F87171"/>
                </a:solidFill>
                <a:latin typeface="Segoe UI Semibold"/>
                <a:ea typeface="Segoe UI Semibold"/>
                <a:cs typeface="Segoe UI Semibold"/>
              </a:rPr>
              <a:t>37 % </a:t>
            </a:r>
            <a:r>
              <a:rPr sz="20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→ </a:t>
            </a:r>
            <a:r>
              <a:rPr sz="2600" b="1" i="0" u="none">
                <a:solidFill>
                  <a:srgbClr val="4ADE80"/>
                </a:solidFill>
                <a:latin typeface="Segoe UI Semibold"/>
                <a:ea typeface="Segoe UI Semibold"/>
                <a:cs typeface="Segoe UI Semibold"/>
              </a:rPr>
              <a:t>96 %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8869680" y="3090672"/>
            <a:ext cx="283464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0" i="0" u="none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tuned fixed limits → physics twin + AI, and it names the fault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274320" y="3950208"/>
            <a:ext cx="64008" cy="23774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393192" y="3913632"/>
            <a:ext cx="55504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Potential impact on the target audience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274320" y="4279392"/>
            <a:ext cx="5715000" cy="621792"/>
          </a:xfrm>
          <a:prstGeom prst="roundRect">
            <a:avLst>
              <a:gd name="adj" fmla="val 15000"/>
            </a:avLst>
          </a:prstGeom>
          <a:solidFill>
            <a:srgbClr val="EAF2FB"/>
          </a:solidFill>
          <a:ln w="12700">
            <a:solidFill>
              <a:srgbClr val="BF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329184" y="4279392"/>
            <a:ext cx="50292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0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🛩️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41248" y="4297679"/>
            <a:ext cx="50749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UAV operators: </a:t>
            </a: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an earlier, explained warning; a lying sensor is not an engine alarm; lost data is never shown as healthy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274320" y="4946904"/>
            <a:ext cx="5715000" cy="621792"/>
          </a:xfrm>
          <a:prstGeom prst="roundRect">
            <a:avLst>
              <a:gd name="adj" fmla="val 15000"/>
            </a:avLst>
          </a:prstGeom>
          <a:solidFill>
            <a:srgbClr val="EAF2FB"/>
          </a:solidFill>
          <a:ln w="12700">
            <a:solidFill>
              <a:srgbClr val="BF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329184" y="4946904"/>
            <a:ext cx="50292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0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🔧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841248" y="4965192"/>
            <a:ext cx="50749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Maintenance teams: </a:t>
            </a: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the residual pattern shows where to look first; every flight can be replayed and checked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274320" y="5614416"/>
            <a:ext cx="5715000" cy="621792"/>
          </a:xfrm>
          <a:prstGeom prst="roundRect">
            <a:avLst>
              <a:gd name="adj" fmla="val 15000"/>
            </a:avLst>
          </a:prstGeom>
          <a:solidFill>
            <a:srgbClr val="EAF2FB"/>
          </a:solidFill>
          <a:ln w="12700">
            <a:solidFill>
              <a:srgbClr val="BF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329184" y="5614416"/>
            <a:ext cx="50292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0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🎯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41248" y="5632704"/>
            <a:ext cx="5074920" cy="5852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1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Mission planners: </a:t>
            </a: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fewer missions lost to false alarms; route options stay advice, the operator decides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6217920" y="3950208"/>
            <a:ext cx="64008" cy="237744"/>
          </a:xfrm>
          <a:prstGeom prst="roundRect">
            <a:avLst>
              <a:gd name="adj" fmla="val 50000"/>
            </a:avLst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6336792" y="3913632"/>
            <a:ext cx="559612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Benefits of the solution (social, economic, environmental, etc.)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6217920" y="4279392"/>
            <a:ext cx="2788920" cy="84124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C6282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6291072" y="4315968"/>
            <a:ext cx="26517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🛡️ </a:t>
            </a:r>
            <a:r>
              <a:rPr sz="115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Social / safety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6291072" y="4645152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fewer engine-related aircraft losses; explained alerts operators can trust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9098280" y="4279392"/>
            <a:ext cx="2788920" cy="841248"/>
          </a:xfrm>
          <a:prstGeom prst="roundRect">
            <a:avLst>
              <a:gd name="adj" fmla="val 12000"/>
            </a:avLst>
          </a:prstGeom>
          <a:solidFill>
            <a:srgbClr val="FFF3E4"/>
          </a:solidFill>
          <a:ln w="12700">
            <a:solidFill>
              <a:srgbClr val="B45309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TextBox 17481"/>
          <p:cNvSpPr txBox="1"/>
          <p:nvPr/>
        </p:nvSpPr>
        <p:spPr>
          <a:xfrm>
            <a:off x="9171432" y="4315968"/>
            <a:ext cx="26517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💰 </a:t>
            </a:r>
            <a:r>
              <a:rPr sz="1150" b="1" i="0" u="none">
                <a:solidFill>
                  <a:srgbClr val="B45309"/>
                </a:solidFill>
                <a:latin typeface="Segoe UI Semibold"/>
                <a:ea typeface="Segoe UI Semibold"/>
                <a:cs typeface="Segoe UI Semibold"/>
              </a:rPr>
              <a:t>Economic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9171432" y="4645152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maintain on condition; avoid needless part removals and aborted sorties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6217920" y="5193792"/>
            <a:ext cx="2788920" cy="84124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2700">
            <a:solidFill>
              <a:srgbClr val="1E8E4E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5" name="TextBox 17484"/>
          <p:cNvSpPr txBox="1"/>
          <p:nvPr/>
        </p:nvSpPr>
        <p:spPr>
          <a:xfrm>
            <a:off x="6291072" y="5230368"/>
            <a:ext cx="26517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🌱 </a:t>
            </a:r>
            <a:r>
              <a:rPr sz="115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Environmental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6291072" y="5559552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fewer wasted parts, less fuel burnt on repeat test flights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9098280" y="5193792"/>
            <a:ext cx="2788920" cy="841248"/>
          </a:xfrm>
          <a:prstGeom prst="roundRect">
            <a:avLst>
              <a:gd name="adj" fmla="val 12000"/>
            </a:avLst>
          </a:prstGeom>
          <a:solidFill>
            <a:srgbClr val="F2ECF9"/>
          </a:solidFill>
          <a:ln w="12700">
            <a:solidFill>
              <a:srgbClr val="6A4C93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TextBox 17487"/>
          <p:cNvSpPr txBox="1"/>
          <p:nvPr/>
        </p:nvSpPr>
        <p:spPr>
          <a:xfrm>
            <a:off x="9171432" y="5230368"/>
            <a:ext cx="26517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🏗️ </a:t>
            </a:r>
            <a:r>
              <a:rPr sz="1150" b="1" i="0" u="none">
                <a:solidFill>
                  <a:srgbClr val="6A4C93"/>
                </a:solidFill>
                <a:latin typeface="Segoe UI Semibold"/>
                <a:ea typeface="Segoe UI Semibold"/>
                <a:cs typeface="Segoe UI Semibold"/>
              </a:rPr>
              <a:t>Strategic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9171432" y="5559552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open, explainable engine-health tool built in India for Indian UAV fleets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6217920" y="6089904"/>
            <a:ext cx="5715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Expected benefits; to be confirmed on real engine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500"/>
              <a:t>GarudaAstra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1133856"/>
            <a:ext cx="64008" cy="23774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393192" y="1097280"/>
            <a:ext cx="55504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Details / Links of the reference and research work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897880" y="1115568"/>
            <a:ext cx="60350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13 verified sources</a:t>
            </a:r>
            <a:r>
              <a:rPr sz="1100" b="0" i="1" u="none">
                <a:solidFill>
                  <a:srgbClr val="1F6FB2"/>
                </a:solidFill>
                <a:latin typeface="Segoe UI"/>
                <a:ea typeface="Segoe UI"/>
                <a:cs typeface="Segoe UI"/>
              </a:rPr>
              <a:t>, mapped onto the six ISO 13374 condition-monitoring blocks</a:t>
            </a:r>
          </a:p>
        </p:txBody>
      </p:sp>
      <p:sp>
        <p:nvSpPr>
          <p:cNvPr id="17413" name="Pentagon 17412"/>
          <p:cNvSpPr/>
          <p:nvPr/>
        </p:nvSpPr>
        <p:spPr>
          <a:xfrm>
            <a:off x="274320" y="1536192"/>
            <a:ext cx="1965960" cy="457200"/>
          </a:xfrm>
          <a:prstGeom prst="homePlate">
            <a:avLst>
              <a:gd name="adj" fmla="val 32000"/>
            </a:avLst>
          </a:prstGeom>
          <a:solidFill>
            <a:srgbClr val="1F6FB2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109728" tIns="0" bIns="0"/>
          <a:lstStyle/>
          <a:p>
            <a:pPr algn="ctr"/>
            <a:r>
              <a:rPr sz="950" b="1" i="0" u="none">
                <a:solidFill>
                  <a:srgbClr val="FDE68A"/>
                </a:solidFill>
                <a:latin typeface="Segoe UI Semibold"/>
                <a:ea typeface="Segoe UI Semibold"/>
                <a:cs typeface="Segoe UI Semibold"/>
              </a:rPr>
              <a:t>DA </a:t>
            </a:r>
            <a:r>
              <a:rPr sz="11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Engine data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10896" y="2103120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Rounded Rectangle 17414"/>
          <p:cNvSpPr/>
          <p:nvPr/>
        </p:nvSpPr>
        <p:spPr>
          <a:xfrm>
            <a:off x="310896" y="2103120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402335" y="2139696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1F6FB2"/>
                </a:solidFill>
                <a:latin typeface="Segoe UI Semibold"/>
                <a:ea typeface="Segoe UI Semibold"/>
                <a:cs typeface="Segoe UI Semibold"/>
              </a:rPr>
              <a:t>ENGINE-CLASS BASELINE (MALE UAV)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Nugroho, R. C. et al. (2023)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Performance simulation of Rotax 915iS PUNA MALE engine using AVL Boost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AIP Conf. Proc. 2981, 020013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4"/>
              </a:rPr>
              <a:t>doi:10.1063/5.0184501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10896" y="3346704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Rounded Rectangle 17417"/>
          <p:cNvSpPr/>
          <p:nvPr/>
        </p:nvSpPr>
        <p:spPr>
          <a:xfrm>
            <a:off x="310896" y="3346704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02335" y="3383280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1F6FB2"/>
                </a:solidFill>
                <a:latin typeface="Segoe UI Semibold"/>
                <a:ea typeface="Segoe UI Semibold"/>
                <a:cs typeface="Segoe UI Semibold"/>
              </a:rPr>
              <a:t>CAN BUS: OUR LIVE INPUT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ISO 11898-1:2024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Road vehicles — Controller area network (CAN) — Part 1: Data link layer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International standard (current edition)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5"/>
              </a:rPr>
              <a:t>iso.org/standard/86384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2212848" y="1536192"/>
            <a:ext cx="1965960" cy="457200"/>
          </a:xfrm>
          <a:prstGeom prst="chevron">
            <a:avLst>
              <a:gd name="adj" fmla="val 32000"/>
            </a:avLst>
          </a:prstGeom>
          <a:solidFill>
            <a:srgbClr val="0F766E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0" bIns="0"/>
          <a:lstStyle/>
          <a:p>
            <a:pPr algn="ctr"/>
            <a:r>
              <a:rPr sz="950" b="1" i="0" u="none">
                <a:solidFill>
                  <a:srgbClr val="FDE68A"/>
                </a:solidFill>
                <a:latin typeface="Segoe UI Semibold"/>
                <a:ea typeface="Segoe UI Semibold"/>
                <a:cs typeface="Segoe UI Semibold"/>
              </a:rPr>
              <a:t>DM </a:t>
            </a:r>
            <a:r>
              <a:rPr sz="11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Golden twin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249424" y="2103120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Rounded Rectangle 17421"/>
          <p:cNvSpPr/>
          <p:nvPr/>
        </p:nvSpPr>
        <p:spPr>
          <a:xfrm>
            <a:off x="2249424" y="2103120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2340864" y="2139696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0F766E"/>
                </a:solidFill>
                <a:latin typeface="Segoe UI Semibold"/>
                <a:ea typeface="Segoe UI Semibold"/>
                <a:cs typeface="Segoe UI Semibold"/>
              </a:rPr>
              <a:t>THE DIGITAL-TWIN CONCEPT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Glaessgen, E. &amp; Stargel, D. (2012)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The Digital Twin Paradigm for Future NASA and U.S. Air Force Vehicles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53rd AIAA SDM Conference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6"/>
              </a:rPr>
              <a:t>doi:10.2514/6.2012-1818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249424" y="3346704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2249424" y="3346704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2340864" y="3383280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0F766E"/>
                </a:solidFill>
                <a:latin typeface="Segoe UI Semibold"/>
                <a:ea typeface="Segoe UI Semibold"/>
                <a:cs typeface="Segoe UI Semibold"/>
              </a:rPr>
              <a:t>ONLINE TWIN ON A UAV ENGINE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Peng, C.-C. &amp; Chen, Y.-H. (2024)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Fixed-Wing UAV Rotary Engine Anomaly Detection via Online Digital Twin Methods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IEEE Trans. Aerosp. Electron. Syst. 60(1)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7"/>
              </a:rPr>
              <a:t>doi:10.1109/TAES.2023.3329797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27" name="Chevron 17426"/>
          <p:cNvSpPr/>
          <p:nvPr/>
        </p:nvSpPr>
        <p:spPr>
          <a:xfrm>
            <a:off x="4151376" y="1536192"/>
            <a:ext cx="1965960" cy="457200"/>
          </a:xfrm>
          <a:prstGeom prst="chevron">
            <a:avLst>
              <a:gd name="adj" fmla="val 32000"/>
            </a:avLst>
          </a:prstGeom>
          <a:solidFill>
            <a:srgbClr val="6A4C93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0" bIns="0"/>
          <a:lstStyle/>
          <a:p>
            <a:pPr algn="ctr"/>
            <a:r>
              <a:rPr sz="950" b="1" i="0" u="none">
                <a:solidFill>
                  <a:srgbClr val="FDE68A"/>
                </a:solidFill>
                <a:latin typeface="Segoe UI Semibold"/>
                <a:ea typeface="Segoe UI Semibold"/>
                <a:cs typeface="Segoe UI Semibold"/>
              </a:rPr>
              <a:t>SD </a:t>
            </a:r>
            <a:r>
              <a:rPr sz="11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Residual check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87952" y="2103120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A4C93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4187952" y="2103120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4279392" y="2139696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6A4C93"/>
                </a:solidFill>
                <a:latin typeface="Segoe UI Semibold"/>
                <a:ea typeface="Segoe UI Semibold"/>
                <a:cs typeface="Segoe UI Semibold"/>
              </a:rPr>
              <a:t>RESIDUAL = OBSERVED − MODEL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Isermann, R. (2005)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Model-based fault-detection and diagnosis – status and applications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Annual Reviews in Control 29(1), 71–85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8"/>
              </a:rPr>
              <a:t>doi:10.1016/j.arcontrol.2004.12.002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187952" y="3346704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A4C93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Rounded Rectangle 17431"/>
          <p:cNvSpPr/>
          <p:nvPr/>
        </p:nvSpPr>
        <p:spPr>
          <a:xfrm>
            <a:off x="4187952" y="3346704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279392" y="3383280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6A4C93"/>
                </a:solidFill>
                <a:latin typeface="Segoe UI Semibold"/>
                <a:ea typeface="Segoe UI Semibold"/>
                <a:cs typeface="Segoe UI Semibold"/>
              </a:rPr>
              <a:t>ANOMALY SCORE · INDIAN SCIENCE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Mahalanobis, P. C. (1936)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On the generalised distance in statistics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Reprinted in Sankhyā A 80(S1), 2018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9"/>
              </a:rPr>
              <a:t>doi:10.1007/s13171-019-00164-5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0"/>
              </a:rPr>
              <a:t>+ Ledoit &amp; Wolf (2004) covariance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34" name="Chevron 17433"/>
          <p:cNvSpPr/>
          <p:nvPr/>
        </p:nvSpPr>
        <p:spPr>
          <a:xfrm>
            <a:off x="6089904" y="1536192"/>
            <a:ext cx="1965960" cy="457200"/>
          </a:xfrm>
          <a:prstGeom prst="chevron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0" bIns="0"/>
          <a:lstStyle/>
          <a:p>
            <a:pPr algn="ctr"/>
            <a:r>
              <a:rPr sz="950" b="1" i="0" u="none">
                <a:solidFill>
                  <a:srgbClr val="FDE68A"/>
                </a:solidFill>
                <a:latin typeface="Segoe UI Semibold"/>
                <a:ea typeface="Segoe UI Semibold"/>
                <a:cs typeface="Segoe UI Semibold"/>
              </a:rPr>
              <a:t>HA </a:t>
            </a:r>
            <a:r>
              <a:rPr sz="11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Fault diagnosis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6126480" y="2103120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Rounded Rectangle 17435"/>
          <p:cNvSpPr/>
          <p:nvPr/>
        </p:nvSpPr>
        <p:spPr>
          <a:xfrm>
            <a:off x="6126480" y="2103120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6217920" y="2139696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B45309"/>
                </a:solidFill>
                <a:latin typeface="Segoe UI Semibold"/>
                <a:ea typeface="Segoe UI Semibold"/>
                <a:cs typeface="Segoe UI Semibold"/>
              </a:rPr>
              <a:t>FAULT CLASSIFIER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Chen, T. &amp; Guestrin, C. (2016)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XGBoost: A Scalable Tree Boosting System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ACM SIGKDD (KDD '16), 785–794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1"/>
              </a:rPr>
              <a:t>doi:10.1145/2939672.2939785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126480" y="3346704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Rounded Rectangle 17438"/>
          <p:cNvSpPr/>
          <p:nvPr/>
        </p:nvSpPr>
        <p:spPr>
          <a:xfrm>
            <a:off x="6126480" y="3346704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6217920" y="3383280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B45309"/>
                </a:solidFill>
                <a:latin typeface="Segoe UI Semibold"/>
                <a:ea typeface="Segoe UI Semibold"/>
                <a:cs typeface="Segoe UI Semibold"/>
              </a:rPr>
              <a:t>PISTON-ENGINE FAULT SIGNS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Miljković, D. (2019)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Detecting Aircraft Piston Engine Problems by Analysis of Engine Parameters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MIPRO 2019, 937–942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2"/>
              </a:rPr>
              <a:t>doi:10.23919/MIPRO.2019.8757079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41" name="Chevron 17440"/>
          <p:cNvSpPr/>
          <p:nvPr/>
        </p:nvSpPr>
        <p:spPr>
          <a:xfrm>
            <a:off x="8028432" y="1536192"/>
            <a:ext cx="1965960" cy="457200"/>
          </a:xfrm>
          <a:prstGeom prst="chevron">
            <a:avLst>
              <a:gd name="adj" fmla="val 32000"/>
            </a:avLst>
          </a:prstGeom>
          <a:solidFill>
            <a:srgbClr val="64748B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0" bIns="0"/>
          <a:lstStyle/>
          <a:p>
            <a:pPr algn="ctr"/>
            <a:r>
              <a:rPr sz="950" b="1" i="0" u="none">
                <a:solidFill>
                  <a:srgbClr val="FDE68A"/>
                </a:solidFill>
                <a:latin typeface="Segoe UI Semibold"/>
                <a:ea typeface="Segoe UI Semibold"/>
                <a:cs typeface="Segoe UI Semibold"/>
              </a:rPr>
              <a:t>PA </a:t>
            </a:r>
            <a:r>
              <a:rPr sz="11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Remaining life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8065008" y="2103120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8065008" y="2103120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8156448" y="2139696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64748B"/>
                </a:solidFill>
                <a:latin typeface="Segoe UI Semibold"/>
                <a:ea typeface="Segoe UI Semibold"/>
                <a:cs typeface="Segoe UI Semibold"/>
              </a:rPr>
              <a:t>SIMULATED RUN-TO-FAILURE (NASA)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Saxena, A. et al. (2008)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Damage propagation modeling for aircraft engine run-to-failure simulation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Int. Conf. Prognostics &amp; Health Mgmt. (PHM)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3"/>
              </a:rPr>
              <a:t>doi:10.1109/PHM.2008.4711414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8065008" y="3346704"/>
            <a:ext cx="1865376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8138160" y="3401568"/>
            <a:ext cx="173736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⏳ </a:t>
            </a:r>
            <a:r>
              <a:rPr sz="800" b="1" i="0" u="none">
                <a:solidFill>
                  <a:srgbClr val="64748B"/>
                </a:solidFill>
                <a:latin typeface="Segoe UI Semibold"/>
                <a:ea typeface="Segoe UI Semibold"/>
                <a:cs typeface="Segoe UI Semibold"/>
              </a:rPr>
              <a:t>OUR STATUS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Research in progress, not claimed.</a:t>
            </a:r>
          </a:p>
          <a:p>
            <a:pPr algn="l">
              <a:lnSpc>
                <a:spcPct val="95000"/>
              </a:lnSpc>
            </a:pPr>
            <a:r>
              <a:rPr sz="8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Remaining life needs real failure-progression data; the twin and AI above do not depend on it.</a:t>
            </a:r>
          </a:p>
        </p:txBody>
      </p:sp>
      <p:sp>
        <p:nvSpPr>
          <p:cNvPr id="17447" name="Chevron 17446"/>
          <p:cNvSpPr/>
          <p:nvPr/>
        </p:nvSpPr>
        <p:spPr>
          <a:xfrm>
            <a:off x="9966960" y="1536192"/>
            <a:ext cx="1965960" cy="457200"/>
          </a:xfrm>
          <a:prstGeom prst="chevron">
            <a:avLst>
              <a:gd name="adj" fmla="val 32000"/>
            </a:avLst>
          </a:prstGeom>
          <a:solidFill>
            <a:srgbClr val="C62828"/>
          </a:solidFill>
          <a:ln>
            <a:noFill/>
          </a:ln>
          <a:effectLst>
            <a:outerShdw blurRad="63500" dist="254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09728" tIns="0" bIns="0"/>
          <a:lstStyle/>
          <a:p>
            <a:pPr algn="ctr"/>
            <a:r>
              <a:rPr sz="950" b="1" i="0" u="none">
                <a:solidFill>
                  <a:srgbClr val="FDE68A"/>
                </a:solidFill>
                <a:latin typeface="Segoe UI Semibold"/>
                <a:ea typeface="Segoe UI Semibold"/>
                <a:cs typeface="Segoe UI Semibold"/>
              </a:rPr>
              <a:t>AG </a:t>
            </a:r>
            <a:r>
              <a:rPr sz="110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Explain &amp; advise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10003536" y="2103120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Rounded Rectangle 17448"/>
          <p:cNvSpPr/>
          <p:nvPr/>
        </p:nvSpPr>
        <p:spPr>
          <a:xfrm>
            <a:off x="10003536" y="2103120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10094976" y="2139696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TreeSHAP: WHY THE AI DECIDED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Lundberg, S. M. et al. (2020)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From local explanations to global understanding with explainable AI for trees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Nature Machine Intelligence 2(1), 56–67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4"/>
              </a:rPr>
              <a:t>doi:10.1038/s42256-019-0138-9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10003536" y="3346704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Rounded Rectangle 17451"/>
          <p:cNvSpPr/>
          <p:nvPr/>
        </p:nvSpPr>
        <p:spPr>
          <a:xfrm>
            <a:off x="10003536" y="3346704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10094976" y="3383280"/>
            <a:ext cx="1737360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 i="0" u="none">
                <a:solidFill>
                  <a:srgbClr val="C62828"/>
                </a:solidFill>
                <a:latin typeface="Segoe UI Semibold"/>
                <a:ea typeface="Segoe UI Semibold"/>
                <a:cs typeface="Segoe UI Semibold"/>
              </a:rPr>
              <a:t>THE 6-BLOCK CHAIN ABOVE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ISO 13374-1:2003</a:t>
            </a:r>
          </a:p>
          <a:p>
            <a:pPr algn="l">
              <a:lnSpc>
                <a:spcPct val="88000"/>
              </a:lnSpc>
              <a:spcAft>
                <a:spcPts val="100"/>
              </a:spcAft>
            </a:pPr>
            <a:r>
              <a:rPr sz="78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Condition monitoring and diagnostics of machines — Data processing, communication and presentation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73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International standard, Part 1</a:t>
            </a:r>
          </a:p>
          <a:p>
            <a:pPr algn="l"/>
            <a:r>
              <a:rPr sz="73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5"/>
              </a:rPr>
              <a:t>iso.org/standard/21832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274320" y="4626864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3E4"/>
          </a:solidFill>
          <a:ln w="15875">
            <a:solidFill>
              <a:srgbClr val="E67E22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384048" y="4681727"/>
            <a:ext cx="33832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⚙️ </a:t>
            </a:r>
            <a:r>
              <a:rPr sz="110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</a:rPr>
              <a:t>Engine facts: BRP-Rotax official data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Rotax 915 iS: 1,352 cm³ · 104 kW (141 hp) take-off · 2.54 reduction gearbox · max operating altitude 23,000 ft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1" i="0" u="none">
                <a:solidFill>
                  <a:srgbClr val="1E8E4E"/>
                </a:solidFill>
                <a:latin typeface="Segoe UI Semibold"/>
                <a:ea typeface="Segoe UI Semibold"/>
                <a:cs typeface="Segoe UI Semibold"/>
              </a:rPr>
              <a:t>→ Our dataset spans 0–23,000 ft: the engine's whole published altitude range.</a:t>
            </a:r>
          </a:p>
          <a:p>
            <a:pPr algn="l">
              <a:spcAft>
                <a:spcPts val="400"/>
              </a:spcAft>
            </a:pPr>
            <a:r>
              <a:rPr sz="80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6"/>
              </a:rPr>
              <a:t>flyrotax.com/products/915-is-a-isc-a</a:t>
            </a:r>
          </a:p>
          <a:p>
            <a:pPr algn="l">
              <a:lnSpc>
                <a:spcPct val="95000"/>
              </a:lnSpc>
            </a:pPr>
            <a:r>
              <a:rPr sz="850" b="0" i="1" u="none">
                <a:solidFill>
                  <a:srgbClr val="4F5D6E"/>
                </a:solidFill>
                <a:latin typeface="Segoe UI"/>
                <a:ea typeface="Segoe UI"/>
                <a:cs typeface="Segoe UI"/>
              </a:rPr>
              <a:t>Twin constants beyond these specs are documented engineering assumptions; calibrating them on a real engine is our next step.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3950208" y="4626864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4059936" y="4681727"/>
            <a:ext cx="3429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u="none">
                <a:solidFill>
                  <a:srgbClr val="FBBF24"/>
                </a:solidFill>
                <a:latin typeface="Segoe UI Semibold"/>
                <a:ea typeface="Segoe UI Semibold"/>
                <a:cs typeface="Segoe UI Semibold"/>
              </a:rPr>
              <a:t>➕ What GarudaTwin adds to this research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4059936" y="4992624"/>
            <a:ext cx="342900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74320" indent="-274320">
              <a:lnSpc>
                <a:spcPct val="95000"/>
              </a:lnSpc>
              <a:spcAft>
                <a:spcPts val="300"/>
              </a:spcAft>
            </a:pPr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🧠 </a:t>
            </a:r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Names the fault, shows its evidence</a:t>
            </a:r>
            <a:r>
              <a:rPr sz="850" b="0" i="0" u="none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 (piston engine, 11 faults)</a:t>
            </a:r>
          </a:p>
          <a:p>
            <a:pPr algn="l" marL="274320" indent="-274320">
              <a:lnSpc>
                <a:spcPct val="95000"/>
              </a:lnSpc>
              <a:spcAft>
                <a:spcPts val="300"/>
              </a:spcAft>
            </a:pPr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🛡️ </a:t>
            </a:r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Lying sensor ≠ sick engine</a:t>
            </a:r>
            <a:r>
              <a:rPr sz="850" b="0" i="0" u="none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 (sensor-vs-engine check)</a:t>
            </a:r>
          </a:p>
          <a:p>
            <a:pPr algn="l" marL="274320" indent="-274320">
              <a:lnSpc>
                <a:spcPct val="95000"/>
              </a:lnSpc>
              <a:spcAft>
                <a:spcPts val="300"/>
              </a:spcAft>
            </a:pPr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🔌 </a:t>
            </a:r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Silence is never healthy</a:t>
            </a:r>
            <a:r>
              <a:rPr sz="850" b="0" i="0" u="none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 (NO DATA within 2 s)</a:t>
            </a:r>
          </a:p>
          <a:p>
            <a:pPr algn="l" marL="274320" indent="-274320">
              <a:lnSpc>
                <a:spcPct val="95000"/>
              </a:lnSpc>
              <a:spcAft>
                <a:spcPts val="300"/>
              </a:spcAft>
            </a:pPr>
            <a:r>
              <a:rPr sz="105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📉 </a:t>
            </a:r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False alarms 2,110 → 0</a:t>
            </a:r>
            <a:r>
              <a:rPr sz="850" b="0" i="0" u="none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 vs simple limits (simulated test data)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7671816" y="4626864"/>
            <a:ext cx="2075688" cy="164592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0B2545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7717536" y="4663440"/>
            <a:ext cx="19842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📦 </a:t>
            </a:r>
            <a:r>
              <a:rPr sz="10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  <a:hlinkClick r:id="rId17"/>
              </a:rPr>
              <a:t>Code</a:t>
            </a:r>
          </a:p>
        </p:txBody>
      </p:sp>
      <p:pic>
        <p:nvPicPr>
          <p:cNvPr id="17461" name="Picture 17460" descr="qr_repo.png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70748" y="4919472"/>
            <a:ext cx="877824" cy="877824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7708392" y="5806440"/>
            <a:ext cx="20025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GitHub: code, tests, model card</a:t>
            </a:r>
          </a:p>
          <a:p>
            <a:pPr algn="ctr"/>
            <a:r>
              <a:rPr sz="70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7"/>
              </a:rPr>
              <a:t>github.com/suhruthsai/</a:t>
            </a:r>
          </a:p>
          <a:p>
            <a:pPr algn="ctr"/>
            <a:r>
              <a:rPr sz="70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7"/>
              </a:rPr>
              <a:t>GarudaTwin-Propulsion-Intelligence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9857232" y="4626864"/>
            <a:ext cx="2075688" cy="164592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0B2545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9902952" y="4663440"/>
            <a:ext cx="19842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0" i="0" u="none">
                <a:solidFill>
                  <a:srgbClr val="1B2430"/>
                </a:solidFill>
                <a:latin typeface="Segoe UI Emoji"/>
                <a:ea typeface="Segoe UI Emoji"/>
                <a:cs typeface="Segoe UI Emoji"/>
              </a:rPr>
              <a:t>🗄️ </a:t>
            </a:r>
            <a:r>
              <a:rPr sz="1050" b="1" i="0" u="none">
                <a:solidFill>
                  <a:srgbClr val="0B2545"/>
                </a:solidFill>
                <a:latin typeface="Segoe UI Semibold"/>
                <a:ea typeface="Segoe UI Semibold"/>
                <a:cs typeface="Segoe UI Semibold"/>
                <a:hlinkClick r:id="rId19"/>
              </a:rPr>
              <a:t>Datasets</a:t>
            </a:r>
          </a:p>
        </p:txBody>
      </p:sp>
      <p:pic>
        <p:nvPicPr>
          <p:cNvPr id="17465" name="Picture 17464" descr="qr_drive.png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56163" y="4919472"/>
            <a:ext cx="877824" cy="877824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9893807" y="5806440"/>
            <a:ext cx="20025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50" b="1" i="0" u="none">
                <a:solidFill>
                  <a:srgbClr val="1B2430"/>
                </a:solidFill>
                <a:latin typeface="Segoe UI Semibold"/>
                <a:ea typeface="Segoe UI Semibold"/>
                <a:cs typeface="Segoe UI Semibold"/>
              </a:rPr>
              <a:t>Google Drive: all data + dataset card</a:t>
            </a:r>
          </a:p>
          <a:p>
            <a:pPr algn="ctr"/>
            <a:r>
              <a:rPr sz="70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9"/>
              </a:rPr>
              <a:t>drive.google.com/drive/folders/</a:t>
            </a:r>
          </a:p>
          <a:p>
            <a:pPr algn="ctr"/>
            <a:r>
              <a:rPr sz="700" b="0" i="0" u="sng">
                <a:solidFill>
                  <a:srgbClr val="1F6FB2"/>
                </a:solidFill>
                <a:latin typeface="Segoe UI"/>
                <a:ea typeface="Segoe UI"/>
                <a:cs typeface="Segoe UI"/>
                <a:hlinkClick r:id="rId19"/>
              </a:rPr>
              <a:t>1NzgCeVztNYcLeIkrnXkrBK1E8dtIl7Up</a:t>
            </a:r>
          </a:p>
          <a:p>
            <a:pPr algn="l"/>
            <a:r>
              <a:rPr sz="200" b="0" i="0" u="none">
                <a:solidFill>
                  <a:srgbClr val="1B2430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274320" y="6400800"/>
            <a:ext cx="4206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●  WORKING PROTOTYPE · ALL ENGINE DATA SHOWN IS SIMULATED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